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2E21370-4ECC-4F15-BEAC-5FF370D2806E}">
  <a:tblStyle styleId="{D2E21370-4ECC-4F15-BEAC-5FF370D2806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This is a story about a small group of children who carry a big risk: infants with heart disease admitted with severe acute respiratory illness. The practical question behind it is who should be first in line as RSV prevention products reach Africa.</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children: 279 admitted with SARI who had cardiac disease, mostly infants — median age seven months. One in seven did not survive the admission. Everything that follows stays inside this group; children without cardiac disease are not part of the analysis.</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New RSV products are arriving, but no country can protect every child at once. Our primary question is framed the way a surveillance dataset can answer it: is a positive RSV test more likely in children with heart disease? The outcome variable is the RSV result; the exposure is cardiac disease.</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flow, with every exclusion and its reason so the counts reconcile. Of 42,431 records, 3,627 had an RSV result; after keeping admitted children under 18 at the four sentinel sites, 3,379 remained, and the 279 with cardiac disease are our analysis population. Children without cardiac disease are excluded at that last step.</a:t>
            </a:r>
            <a:endParaRPr/>
          </a:p>
        </p:txBody>
      </p:sp>
      <p:sp>
        <p:nvSpPr>
          <p:cNvPr id="64" name="Google Shape;6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About one in five of these children tested positive for RSV. Within the group, positivity is concentrated in infancy: roughly 22% under a year, falling to about 11% in the second year. Sex, site and heart failure made little difference.</a:t>
            </a:r>
            <a:endParaRPr/>
          </a:p>
        </p:txBody>
      </p:sp>
      <p:sp>
        <p:nvSpPr>
          <p:cNvPr id="130" name="Google Shape;1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primary analysis. We screened each candidate on its own, then adjusted for those reaching p below 0.20, keeping age and sex regardless. Only age qualified. Children of 12 months and older had less than half the odds of testing positive compared with infants under six months. Site, heart failure, malnutrition and prior hospitalisation showed nothing.</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secondary analysis reverses the roles and asks what the admission looked like. A caveat the reviewers rightly raised: every child here met the SARI case definition, so all were severe by definition. What we can compare are markers within that group — hypoxaemia, intensive care, death — and they were almost identical by RSV status.</a:t>
            </a:r>
            <a:endParaRPr/>
          </a:p>
        </p:txBody>
      </p:sp>
      <p:sp>
        <p:nvSpPr>
          <p:cNvPr id="155" name="Google Shape;15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economics. Those 55 RSV admissions used about 1,200 bed-days — a median of two weeks each — and 22 of the 55 needed intensive or acute care. In a referral hospital that is real capacity.</a:t>
            </a:r>
            <a:endParaRPr/>
          </a:p>
        </p:txBody>
      </p:sp>
      <p:sp>
        <p:nvSpPr>
          <p:cNvPr id="169" name="Google Shape;16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Putting it together: RSV is no more common in these children, but it costs them more, and positivity peaks in the first six months of life — exactly the window that maternal vaccination and monoclonal antibodies cover.</a:t>
            </a:r>
            <a:endParaRPr/>
          </a:p>
        </p:txBody>
      </p:sp>
      <p:sp>
        <p:nvSpPr>
          <p:cNvPr id="196" name="Google Shape;1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actions: prioritise these infants, track them in surveillance, and build the investment case with a prospective study.</a:t>
            </a:r>
            <a:endParaRPr/>
          </a:p>
        </p:txBody>
      </p:sp>
      <p:sp>
        <p:nvSpPr>
          <p:cNvPr id="219" name="Google Shape;21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Being honest about the evidence: small numbers, cardiac disease partly from clinical notes, severity graded rather than present or absent because all these children were severe, and no follow-up after discharge.</a:t>
            </a:r>
            <a:endParaRPr/>
          </a:p>
        </p:txBody>
      </p:sp>
      <p:sp>
        <p:nvSpPr>
          <p:cNvPr id="240" name="Google Shape;24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close: one in five of these admissions was RSV, concentrated in the first year of life, in children who can least afford it. Preventing RSV in young infants is a measurable way to turn this evidence into impact. Thank you.</a:t>
            </a:r>
            <a:endParaRPr/>
          </a:p>
        </p:txBody>
      </p:sp>
      <p:sp>
        <p:nvSpPr>
          <p:cNvPr id="256" name="Google Shape;25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5" name="Shape 15"/>
        <p:cNvGrpSpPr/>
        <p:nvPr/>
      </p:nvGrpSpPr>
      <p:grpSpPr>
        <a:xfrm>
          <a:off x="0" y="0"/>
          <a:ext cx="0" cy="0"/>
          <a:chOff x="0" y="0"/>
          <a:chExt cx="0" cy="0"/>
        </a:xfrm>
      </p:grpSpPr>
      <p:sp>
        <p:nvSpPr>
          <p:cNvPr id="16" name="Google Shape;16;p3"/>
          <p:cNvSpPr txBox="1"/>
          <p:nvPr/>
        </p:nvSpPr>
        <p:spPr>
          <a:xfrm>
            <a:off x="640080" y="64008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7B2"/>
              </a:buClr>
              <a:buSzPts val="1200"/>
              <a:buFont typeface="Calibri"/>
              <a:buNone/>
            </a:pPr>
            <a:r>
              <a:rPr b="1" i="0" lang="en-US" sz="1200" u="none" cap="none" strike="noStrike">
                <a:solidFill>
                  <a:srgbClr val="F2A7B2"/>
                </a:solidFill>
                <a:latin typeface="Calibri"/>
                <a:ea typeface="Calibri"/>
                <a:cs typeface="Calibri"/>
                <a:sym typeface="Calibri"/>
              </a:rPr>
              <a:t>17th KASH CONFERENCE 2027  ·  SUB-THEME 7: MATERNAL, CHILD &amp; ADOLESCENT HEALTH</a:t>
            </a:r>
            <a:endParaRPr b="0" i="0" sz="1200" u="none" cap="none" strike="noStrike">
              <a:solidFill>
                <a:schemeClr val="dk1"/>
              </a:solidFill>
              <a:latin typeface="Calibri"/>
              <a:ea typeface="Calibri"/>
              <a:cs typeface="Calibri"/>
              <a:sym typeface="Calibri"/>
            </a:endParaRPr>
          </a:p>
        </p:txBody>
      </p:sp>
      <p:sp>
        <p:nvSpPr>
          <p:cNvPr id="17" name="Google Shape;17;p3"/>
          <p:cNvSpPr txBox="1"/>
          <p:nvPr/>
        </p:nvSpPr>
        <p:spPr>
          <a:xfrm>
            <a:off x="640080" y="1417320"/>
            <a:ext cx="7772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Cambria"/>
              <a:buNone/>
            </a:pPr>
            <a:r>
              <a:rPr b="1" i="0" lang="en-US" sz="5200" u="none" cap="none" strike="noStrike">
                <a:solidFill>
                  <a:srgbClr val="FFFFFF"/>
                </a:solidFill>
                <a:latin typeface="Cambria"/>
                <a:ea typeface="Cambria"/>
                <a:cs typeface="Cambria"/>
                <a:sym typeface="Cambria"/>
              </a:rPr>
              <a:t>Hearts at Risk</a:t>
            </a:r>
            <a:endParaRPr b="0" i="0" sz="5200" u="none" cap="none" strike="noStrike">
              <a:solidFill>
                <a:schemeClr val="dk1"/>
              </a:solidFill>
              <a:latin typeface="Calibri"/>
              <a:ea typeface="Calibri"/>
              <a:cs typeface="Calibri"/>
              <a:sym typeface="Calibri"/>
            </a:endParaRPr>
          </a:p>
        </p:txBody>
      </p:sp>
      <p:sp>
        <p:nvSpPr>
          <p:cNvPr id="18" name="Google Shape;18;p3"/>
          <p:cNvSpPr txBox="1"/>
          <p:nvPr/>
        </p:nvSpPr>
        <p:spPr>
          <a:xfrm>
            <a:off x="640080" y="2514600"/>
            <a:ext cx="75895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3E3"/>
              </a:buClr>
              <a:buSzPts val="2000"/>
              <a:buFont typeface="Calibri"/>
              <a:buNone/>
            </a:pPr>
            <a:r>
              <a:rPr b="0" i="0" lang="en-US" sz="2000" u="none" cap="none" strike="noStrike">
                <a:solidFill>
                  <a:srgbClr val="C9D3E3"/>
                </a:solidFill>
                <a:latin typeface="Calibri"/>
                <a:ea typeface="Calibri"/>
                <a:cs typeface="Calibri"/>
                <a:sym typeface="Calibri"/>
              </a:rPr>
              <a:t>RSV test positivity among hospitalised children with cardiac disease in Kenya — surveillance evidence to guide targeted RSV prevention</a:t>
            </a:r>
            <a:endParaRPr b="0" i="0" sz="2000" u="none" cap="none" strike="noStrike">
              <a:solidFill>
                <a:schemeClr val="dk1"/>
              </a:solidFill>
              <a:latin typeface="Calibri"/>
              <a:ea typeface="Calibri"/>
              <a:cs typeface="Calibri"/>
              <a:sym typeface="Calibri"/>
            </a:endParaRPr>
          </a:p>
        </p:txBody>
      </p:sp>
      <p:sp>
        <p:nvSpPr>
          <p:cNvPr id="19" name="Google Shape;19;p3"/>
          <p:cNvSpPr txBox="1"/>
          <p:nvPr/>
        </p:nvSpPr>
        <p:spPr>
          <a:xfrm>
            <a:off x="640080" y="3931920"/>
            <a:ext cx="7589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3"/>
              </a:buClr>
              <a:buSzPts val="1500"/>
              <a:buFont typeface="Calibri"/>
              <a:buNone/>
            </a:pPr>
            <a:r>
              <a:rPr b="0" i="1" lang="en-US" sz="1500" u="none" cap="none" strike="noStrike">
                <a:solidFill>
                  <a:srgbClr val="C9D3E3"/>
                </a:solidFill>
                <a:latin typeface="Calibri"/>
                <a:ea typeface="Calibri"/>
                <a:cs typeface="Calibri"/>
                <a:sym typeface="Calibri"/>
              </a:rPr>
              <a:t>278 children under five with cardiac disease admitted with SARI at four sentinel hospitals, 2024–2026</a:t>
            </a:r>
            <a:endParaRPr b="0" i="0" sz="1500" u="none" cap="none" strike="noStrike">
              <a:solidFill>
                <a:schemeClr val="dk1"/>
              </a:solidFill>
              <a:latin typeface="Calibri"/>
              <a:ea typeface="Calibri"/>
              <a:cs typeface="Calibri"/>
              <a:sym typeface="Calibri"/>
            </a:endParaRPr>
          </a:p>
        </p:txBody>
      </p:sp>
      <p:sp>
        <p:nvSpPr>
          <p:cNvPr id="20" name="Google Shape;20;p3"/>
          <p:cNvSpPr txBox="1"/>
          <p:nvPr/>
        </p:nvSpPr>
        <p:spPr>
          <a:xfrm>
            <a:off x="640080" y="4937760"/>
            <a:ext cx="77724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Steve Charo</a:t>
            </a:r>
            <a:endParaRPr b="1">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1400"/>
              <a:buFont typeface="Calibri"/>
              <a:buNone/>
            </a:pPr>
            <a:r>
              <a:rPr b="0" i="0" lang="en-US" sz="1400" u="none" cap="none" strike="noStrike">
                <a:solidFill>
                  <a:srgbClr val="C9D3E3"/>
                </a:solidFill>
                <a:latin typeface="Calibri"/>
                <a:ea typeface="Calibri"/>
                <a:cs typeface="Calibri"/>
                <a:sym typeface="Calibri"/>
              </a:rPr>
              <a:t>Centre for Global Health Research, Kenya Medical Research Institute (KEMRI), Kisumu</a:t>
            </a:r>
            <a:endParaRPr b="0" i="0" sz="1400" u="none" cap="none" strike="noStrike">
              <a:solidFill>
                <a:schemeClr val="dk1"/>
              </a:solidFill>
              <a:latin typeface="Calibri"/>
              <a:ea typeface="Calibri"/>
              <a:cs typeface="Calibri"/>
              <a:sym typeface="Calibri"/>
            </a:endParaRPr>
          </a:p>
        </p:txBody>
      </p:sp>
      <p:sp>
        <p:nvSpPr>
          <p:cNvPr id="21" name="Google Shape;21;p3"/>
          <p:cNvSpPr/>
          <p:nvPr/>
        </p:nvSpPr>
        <p:spPr>
          <a:xfrm>
            <a:off x="8869680" y="1737360"/>
            <a:ext cx="2651760" cy="265176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 name="Google Shape;22;p3"/>
          <p:cNvPicPr preferRelativeResize="0"/>
          <p:nvPr/>
        </p:nvPicPr>
        <p:blipFill rotWithShape="1">
          <a:blip r:embed="rId3">
            <a:alphaModFix/>
          </a:blip>
          <a:srcRect b="0" l="0" r="0" t="0"/>
          <a:stretch/>
        </p:blipFill>
        <p:spPr>
          <a:xfrm>
            <a:off x="9464040" y="2331720"/>
            <a:ext cx="1463040" cy="14630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4"/>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The children in this study: 278 children under five with cardiac disease, admitted with SARI</a:t>
            </a:r>
            <a:endParaRPr b="0" i="0" sz="2900" u="none" cap="none" strike="noStrike">
              <a:solidFill>
                <a:schemeClr val="dk1"/>
              </a:solidFill>
              <a:latin typeface="Calibri"/>
              <a:ea typeface="Calibri"/>
              <a:cs typeface="Calibri"/>
              <a:sym typeface="Calibri"/>
            </a:endParaRPr>
          </a:p>
        </p:txBody>
      </p:sp>
      <p:sp>
        <p:nvSpPr>
          <p:cNvPr id="29" name="Google Shape;29;p4"/>
          <p:cNvSpPr/>
          <p:nvPr/>
        </p:nvSpPr>
        <p:spPr>
          <a:xfrm>
            <a:off x="548640" y="1737360"/>
            <a:ext cx="3474720" cy="3291840"/>
          </a:xfrm>
          <a:prstGeom prst="roundRect">
            <a:avLst>
              <a:gd fmla="val 3333"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txBox="1"/>
          <p:nvPr/>
        </p:nvSpPr>
        <p:spPr>
          <a:xfrm>
            <a:off x="868680" y="2057400"/>
            <a:ext cx="283464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5200"/>
              <a:buFont typeface="Cambria"/>
              <a:buNone/>
            </a:pPr>
            <a:r>
              <a:rPr b="1" i="0" lang="en-US" sz="5200" u="none" cap="none" strike="noStrike">
                <a:solidFill>
                  <a:srgbClr val="14213D"/>
                </a:solidFill>
                <a:latin typeface="Cambria"/>
                <a:ea typeface="Cambria"/>
                <a:cs typeface="Cambria"/>
                <a:sym typeface="Cambria"/>
              </a:rPr>
              <a:t>278</a:t>
            </a:r>
            <a:endParaRPr b="0" i="0" sz="5200" u="none" cap="none" strike="noStrike">
              <a:solidFill>
                <a:schemeClr val="dk1"/>
              </a:solidFill>
              <a:latin typeface="Calibri"/>
              <a:ea typeface="Calibri"/>
              <a:cs typeface="Calibri"/>
              <a:sym typeface="Calibri"/>
            </a:endParaRPr>
          </a:p>
        </p:txBody>
      </p:sp>
      <p:sp>
        <p:nvSpPr>
          <p:cNvPr id="31" name="Google Shape;31;p4"/>
          <p:cNvSpPr txBox="1"/>
          <p:nvPr/>
        </p:nvSpPr>
        <p:spPr>
          <a:xfrm>
            <a:off x="868680" y="3291840"/>
            <a:ext cx="283464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0" i="0" lang="en-US" sz="1600" u="none" cap="none" strike="noStrike">
                <a:solidFill>
                  <a:srgbClr val="1B2430"/>
                </a:solidFill>
                <a:latin typeface="Calibri"/>
                <a:ea typeface="Calibri"/>
                <a:cs typeface="Calibri"/>
                <a:sym typeface="Calibri"/>
              </a:rPr>
              <a:t>children aged 0–59 months with cardiac disease admitted with SARI, 18 with heart failure</a:t>
            </a:r>
            <a:endParaRPr b="0" i="0" sz="1600" u="none" cap="none" strike="noStrike">
              <a:solidFill>
                <a:schemeClr val="dk1"/>
              </a:solidFill>
              <a:latin typeface="Calibri"/>
              <a:ea typeface="Calibri"/>
              <a:cs typeface="Calibri"/>
              <a:sym typeface="Calibri"/>
            </a:endParaRPr>
          </a:p>
        </p:txBody>
      </p:sp>
      <p:sp>
        <p:nvSpPr>
          <p:cNvPr id="32" name="Google Shape;32;p4"/>
          <p:cNvSpPr/>
          <p:nvPr/>
        </p:nvSpPr>
        <p:spPr>
          <a:xfrm>
            <a:off x="4297680" y="1737360"/>
            <a:ext cx="3474720" cy="3291840"/>
          </a:xfrm>
          <a:prstGeom prst="roundRect">
            <a:avLst>
              <a:gd fmla="val 3333"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txBox="1"/>
          <p:nvPr/>
        </p:nvSpPr>
        <p:spPr>
          <a:xfrm>
            <a:off x="4617720" y="2057400"/>
            <a:ext cx="283464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DB5"/>
              </a:buClr>
              <a:buSzPts val="4000"/>
              <a:buFont typeface="Cambria"/>
              <a:buNone/>
            </a:pPr>
            <a:r>
              <a:rPr b="1" i="0" lang="en-US" sz="4000" u="none" cap="none" strike="noStrike">
                <a:solidFill>
                  <a:srgbClr val="2F6DB5"/>
                </a:solidFill>
                <a:latin typeface="Cambria"/>
                <a:ea typeface="Cambria"/>
                <a:cs typeface="Cambria"/>
                <a:sym typeface="Cambria"/>
              </a:rPr>
              <a:t>7 months</a:t>
            </a:r>
            <a:endParaRPr b="0" i="0" sz="4000" u="none" cap="none" strike="noStrike">
              <a:solidFill>
                <a:schemeClr val="dk1"/>
              </a:solidFill>
              <a:latin typeface="Calibri"/>
              <a:ea typeface="Calibri"/>
              <a:cs typeface="Calibri"/>
              <a:sym typeface="Calibri"/>
            </a:endParaRPr>
          </a:p>
        </p:txBody>
      </p:sp>
      <p:sp>
        <p:nvSpPr>
          <p:cNvPr id="34" name="Google Shape;34;p4"/>
          <p:cNvSpPr txBox="1"/>
          <p:nvPr/>
        </p:nvSpPr>
        <p:spPr>
          <a:xfrm>
            <a:off x="4617720" y="3291840"/>
            <a:ext cx="283464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0" i="0" lang="en-US" sz="1600" u="none" cap="none" strike="noStrike">
                <a:solidFill>
                  <a:srgbClr val="1B2430"/>
                </a:solidFill>
                <a:latin typeface="Calibri"/>
                <a:ea typeface="Calibri"/>
                <a:cs typeface="Calibri"/>
                <a:sym typeface="Calibri"/>
              </a:rPr>
              <a:t>median age (IQR 4–12); 75/278 had malnutrition</a:t>
            </a:r>
            <a:endParaRPr b="0" i="0" sz="1600" u="none" cap="none" strike="noStrike">
              <a:solidFill>
                <a:schemeClr val="dk1"/>
              </a:solidFill>
              <a:latin typeface="Calibri"/>
              <a:ea typeface="Calibri"/>
              <a:cs typeface="Calibri"/>
              <a:sym typeface="Calibri"/>
            </a:endParaRPr>
          </a:p>
        </p:txBody>
      </p:sp>
      <p:sp>
        <p:nvSpPr>
          <p:cNvPr id="35" name="Google Shape;35;p4"/>
          <p:cNvSpPr/>
          <p:nvPr/>
        </p:nvSpPr>
        <p:spPr>
          <a:xfrm>
            <a:off x="8046720" y="1737360"/>
            <a:ext cx="3474720" cy="3291840"/>
          </a:xfrm>
          <a:prstGeom prst="roundRect">
            <a:avLst>
              <a:gd fmla="val 3333"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txBox="1"/>
          <p:nvPr/>
        </p:nvSpPr>
        <p:spPr>
          <a:xfrm>
            <a:off x="8366760" y="2057400"/>
            <a:ext cx="283464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5200"/>
              <a:buFont typeface="Cambria"/>
              <a:buNone/>
            </a:pPr>
            <a:r>
              <a:rPr b="1" i="0" lang="en-US" sz="5200" u="none" cap="none" strike="noStrike">
                <a:solidFill>
                  <a:srgbClr val="C8102E"/>
                </a:solidFill>
                <a:latin typeface="Cambria"/>
                <a:ea typeface="Cambria"/>
                <a:cs typeface="Cambria"/>
                <a:sym typeface="Cambria"/>
              </a:rPr>
              <a:t>40/278</a:t>
            </a:r>
            <a:endParaRPr b="0" i="0" sz="5200" u="none" cap="none" strike="noStrike">
              <a:solidFill>
                <a:schemeClr val="dk1"/>
              </a:solidFill>
              <a:latin typeface="Calibri"/>
              <a:ea typeface="Calibri"/>
              <a:cs typeface="Calibri"/>
              <a:sym typeface="Calibri"/>
            </a:endParaRPr>
          </a:p>
        </p:txBody>
      </p:sp>
      <p:sp>
        <p:nvSpPr>
          <p:cNvPr id="37" name="Google Shape;37;p4"/>
          <p:cNvSpPr txBox="1"/>
          <p:nvPr/>
        </p:nvSpPr>
        <p:spPr>
          <a:xfrm>
            <a:off x="8366760" y="3291840"/>
            <a:ext cx="283464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0" i="0" lang="en-US" sz="1600" u="none" cap="none" strike="noStrike">
                <a:solidFill>
                  <a:srgbClr val="1B2430"/>
                </a:solidFill>
                <a:latin typeface="Calibri"/>
                <a:ea typeface="Calibri"/>
                <a:cs typeface="Calibri"/>
                <a:sym typeface="Calibri"/>
              </a:rPr>
              <a:t>died in hospital (14.4%), and 108/278 needed ICU or acute care</a:t>
            </a:r>
            <a:endParaRPr b="0" i="0" sz="1600" u="none" cap="none" strike="noStrike">
              <a:solidFill>
                <a:schemeClr val="dk1"/>
              </a:solidFill>
              <a:latin typeface="Calibri"/>
              <a:ea typeface="Calibri"/>
              <a:cs typeface="Calibri"/>
              <a:sym typeface="Calibri"/>
            </a:endParaRPr>
          </a:p>
        </p:txBody>
      </p:sp>
      <p:sp>
        <p:nvSpPr>
          <p:cNvPr id="38" name="Google Shape;38;p4"/>
          <p:cNvSpPr txBox="1"/>
          <p:nvPr/>
        </p:nvSpPr>
        <p:spPr>
          <a:xfrm>
            <a:off x="548640" y="5303520"/>
            <a:ext cx="11094415"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0" i="0" lang="en-US" sz="1600" u="none" cap="none" strike="noStrike">
                <a:solidFill>
                  <a:srgbClr val="1B2430"/>
                </a:solidFill>
                <a:latin typeface="Calibri"/>
                <a:ea typeface="Calibri"/>
                <a:cs typeface="Calibri"/>
                <a:sym typeface="Calibri"/>
              </a:rPr>
              <a:t>Every analysis that follows is restricted to these 278 children. The question is how much of their burden RSV accounts for, and which of them test positive.</a:t>
            </a:r>
            <a:endParaRPr b="0" i="0" sz="1600" u="none" cap="none" strike="noStrike">
              <a:solidFill>
                <a:schemeClr val="dk1"/>
              </a:solidFill>
              <a:latin typeface="Calibri"/>
              <a:ea typeface="Calibri"/>
              <a:cs typeface="Calibri"/>
              <a:sym typeface="Calibri"/>
            </a:endParaRPr>
          </a:p>
        </p:txBody>
      </p:sp>
      <p:sp>
        <p:nvSpPr>
          <p:cNvPr id="39" name="Google Shape;39;p4"/>
          <p:cNvSpPr txBox="1"/>
          <p:nvPr/>
        </p:nvSpPr>
        <p:spPr>
          <a:xfrm>
            <a:off x="548640" y="6355080"/>
            <a:ext cx="11094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0" i="1" lang="en-US" sz="1000" u="none" cap="none" strike="noStrike">
                <a:solidFill>
                  <a:srgbClr val="5B6573"/>
                </a:solidFill>
                <a:latin typeface="Calibri"/>
                <a:ea typeface="Calibri"/>
                <a:cs typeface="Calibri"/>
                <a:sym typeface="Calibri"/>
              </a:rPr>
              <a:t>Denominators differ where a field was not recorded. Source: KEMRI/CGHR SARI surveillance, children aged 0–59 months, Jan 2024–Jul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5"/>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RSV prevention is arriving, but doses will be limited — who should be protected first?</a:t>
            </a:r>
            <a:endParaRPr b="0" i="0" sz="2900" u="none" cap="none" strike="noStrike">
              <a:solidFill>
                <a:schemeClr val="dk1"/>
              </a:solidFill>
              <a:latin typeface="Calibri"/>
              <a:ea typeface="Calibri"/>
              <a:cs typeface="Calibri"/>
              <a:sym typeface="Calibri"/>
            </a:endParaRPr>
          </a:p>
        </p:txBody>
      </p:sp>
      <p:sp>
        <p:nvSpPr>
          <p:cNvPr id="46" name="Google Shape;46;p5"/>
          <p:cNvSpPr/>
          <p:nvPr/>
        </p:nvSpPr>
        <p:spPr>
          <a:xfrm>
            <a:off x="640080" y="1737360"/>
            <a:ext cx="777240" cy="7772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 name="Google Shape;47;p5"/>
          <p:cNvPicPr preferRelativeResize="0"/>
          <p:nvPr/>
        </p:nvPicPr>
        <p:blipFill rotWithShape="1">
          <a:blip r:embed="rId3">
            <a:alphaModFix/>
          </a:blip>
          <a:srcRect b="0" l="0" r="0" t="0"/>
          <a:stretch/>
        </p:blipFill>
        <p:spPr>
          <a:xfrm>
            <a:off x="811073" y="1908353"/>
            <a:ext cx="435254" cy="435254"/>
          </a:xfrm>
          <a:prstGeom prst="rect">
            <a:avLst/>
          </a:prstGeom>
          <a:noFill/>
          <a:ln>
            <a:noFill/>
          </a:ln>
        </p:spPr>
      </p:pic>
      <p:sp>
        <p:nvSpPr>
          <p:cNvPr id="48" name="Google Shape;48;p5"/>
          <p:cNvSpPr txBox="1"/>
          <p:nvPr/>
        </p:nvSpPr>
        <p:spPr>
          <a:xfrm>
            <a:off x="1691640" y="1737360"/>
            <a:ext cx="5120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1800"/>
              <a:buFont typeface="Calibri"/>
              <a:buNone/>
            </a:pPr>
            <a:r>
              <a:rPr b="0" i="0" lang="en-US" sz="1800" u="none" cap="none" strike="noStrike">
                <a:solidFill>
                  <a:srgbClr val="1B2430"/>
                </a:solidFill>
                <a:latin typeface="Calibri"/>
                <a:ea typeface="Calibri"/>
                <a:cs typeface="Calibri"/>
                <a:sym typeface="Calibri"/>
              </a:rPr>
              <a:t>RSV is the leading cause of severe lower respiratory infection in infants worldwide</a:t>
            </a:r>
            <a:endParaRPr b="0" i="0" sz="1800" u="none" cap="none" strike="noStrike">
              <a:solidFill>
                <a:schemeClr val="dk1"/>
              </a:solidFill>
              <a:latin typeface="Calibri"/>
              <a:ea typeface="Calibri"/>
              <a:cs typeface="Calibri"/>
              <a:sym typeface="Calibri"/>
            </a:endParaRPr>
          </a:p>
        </p:txBody>
      </p:sp>
      <p:sp>
        <p:nvSpPr>
          <p:cNvPr id="49" name="Google Shape;49;p5"/>
          <p:cNvSpPr/>
          <p:nvPr/>
        </p:nvSpPr>
        <p:spPr>
          <a:xfrm>
            <a:off x="640080" y="3063240"/>
            <a:ext cx="777240" cy="7772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 name="Google Shape;50;p5"/>
          <p:cNvPicPr preferRelativeResize="0"/>
          <p:nvPr/>
        </p:nvPicPr>
        <p:blipFill rotWithShape="1">
          <a:blip r:embed="rId4">
            <a:alphaModFix/>
          </a:blip>
          <a:srcRect b="0" l="0" r="0" t="0"/>
          <a:stretch/>
        </p:blipFill>
        <p:spPr>
          <a:xfrm>
            <a:off x="811073" y="3234233"/>
            <a:ext cx="435254" cy="435254"/>
          </a:xfrm>
          <a:prstGeom prst="rect">
            <a:avLst/>
          </a:prstGeom>
          <a:noFill/>
          <a:ln>
            <a:noFill/>
          </a:ln>
        </p:spPr>
      </p:pic>
      <p:sp>
        <p:nvSpPr>
          <p:cNvPr id="51" name="Google Shape;51;p5"/>
          <p:cNvSpPr txBox="1"/>
          <p:nvPr/>
        </p:nvSpPr>
        <p:spPr>
          <a:xfrm>
            <a:off x="1691640" y="3063240"/>
            <a:ext cx="5120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1800"/>
              <a:buFont typeface="Calibri"/>
              <a:buNone/>
            </a:pPr>
            <a:r>
              <a:rPr b="0" i="0" lang="en-US" sz="1800" u="none" cap="none" strike="noStrike">
                <a:solidFill>
                  <a:srgbClr val="1B2430"/>
                </a:solidFill>
                <a:latin typeface="Calibri"/>
                <a:ea typeface="Calibri"/>
                <a:cs typeface="Calibri"/>
                <a:sym typeface="Calibri"/>
              </a:rPr>
              <a:t>Maternal RSV vaccines and long-acting monoclonal antibodies are becoming available</a:t>
            </a:r>
            <a:endParaRPr b="0" i="0" sz="1800" u="none" cap="none" strike="noStrike">
              <a:solidFill>
                <a:schemeClr val="dk1"/>
              </a:solidFill>
              <a:latin typeface="Calibri"/>
              <a:ea typeface="Calibri"/>
              <a:cs typeface="Calibri"/>
              <a:sym typeface="Calibri"/>
            </a:endParaRPr>
          </a:p>
        </p:txBody>
      </p:sp>
      <p:sp>
        <p:nvSpPr>
          <p:cNvPr id="52" name="Google Shape;52;p5"/>
          <p:cNvSpPr/>
          <p:nvPr/>
        </p:nvSpPr>
        <p:spPr>
          <a:xfrm>
            <a:off x="640080" y="4389120"/>
            <a:ext cx="777240" cy="7772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5"/>
          <p:cNvPicPr preferRelativeResize="0"/>
          <p:nvPr/>
        </p:nvPicPr>
        <p:blipFill rotWithShape="1">
          <a:blip r:embed="rId5">
            <a:alphaModFix/>
          </a:blip>
          <a:srcRect b="0" l="0" r="0" t="0"/>
          <a:stretch/>
        </p:blipFill>
        <p:spPr>
          <a:xfrm>
            <a:off x="811073" y="4560113"/>
            <a:ext cx="435254" cy="435254"/>
          </a:xfrm>
          <a:prstGeom prst="rect">
            <a:avLst/>
          </a:prstGeom>
          <a:noFill/>
          <a:ln>
            <a:noFill/>
          </a:ln>
        </p:spPr>
      </p:pic>
      <p:sp>
        <p:nvSpPr>
          <p:cNvPr id="54" name="Google Shape;54;p5"/>
          <p:cNvSpPr txBox="1"/>
          <p:nvPr/>
        </p:nvSpPr>
        <p:spPr>
          <a:xfrm>
            <a:off x="1691640" y="4389120"/>
            <a:ext cx="5120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1800"/>
              <a:buFont typeface="Calibri"/>
              <a:buNone/>
            </a:pPr>
            <a:r>
              <a:rPr b="0" i="0" lang="en-US" sz="1800" u="none" cap="none" strike="noStrike">
                <a:solidFill>
                  <a:srgbClr val="1B2430"/>
                </a:solidFill>
                <a:latin typeface="Calibri"/>
                <a:ea typeface="Calibri"/>
                <a:cs typeface="Calibri"/>
                <a:sym typeface="Calibri"/>
              </a:rPr>
              <a:t>With limited supply and budgets, countries need local evidence on which children to prioritise</a:t>
            </a:r>
            <a:endParaRPr b="0" i="0" sz="1800" u="none" cap="none" strike="noStrike">
              <a:solidFill>
                <a:schemeClr val="dk1"/>
              </a:solidFill>
              <a:latin typeface="Calibri"/>
              <a:ea typeface="Calibri"/>
              <a:cs typeface="Calibri"/>
              <a:sym typeface="Calibri"/>
            </a:endParaRPr>
          </a:p>
        </p:txBody>
      </p:sp>
      <p:sp>
        <p:nvSpPr>
          <p:cNvPr id="55" name="Google Shape;55;p5"/>
          <p:cNvSpPr/>
          <p:nvPr/>
        </p:nvSpPr>
        <p:spPr>
          <a:xfrm>
            <a:off x="7406640" y="1737360"/>
            <a:ext cx="4206240" cy="3931920"/>
          </a:xfrm>
          <a:prstGeom prst="roundRect">
            <a:avLst>
              <a:gd fmla="val 2791" name="adj"/>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7772400" y="2011680"/>
            <a:ext cx="685800" cy="68580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 name="Google Shape;57;p5"/>
          <p:cNvPicPr preferRelativeResize="0"/>
          <p:nvPr/>
        </p:nvPicPr>
        <p:blipFill rotWithShape="1">
          <a:blip r:embed="rId6">
            <a:alphaModFix/>
          </a:blip>
          <a:srcRect b="0" l="0" r="0" t="0"/>
          <a:stretch/>
        </p:blipFill>
        <p:spPr>
          <a:xfrm>
            <a:off x="7923276" y="2162556"/>
            <a:ext cx="384048" cy="384048"/>
          </a:xfrm>
          <a:prstGeom prst="rect">
            <a:avLst/>
          </a:prstGeom>
          <a:noFill/>
          <a:ln>
            <a:noFill/>
          </a:ln>
        </p:spPr>
      </p:pic>
      <p:sp>
        <p:nvSpPr>
          <p:cNvPr id="58" name="Google Shape;58;p5"/>
          <p:cNvSpPr txBox="1"/>
          <p:nvPr/>
        </p:nvSpPr>
        <p:spPr>
          <a:xfrm>
            <a:off x="7772400" y="288036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7B2"/>
              </a:buClr>
              <a:buSzPts val="1300"/>
              <a:buFont typeface="Calibri"/>
              <a:buNone/>
            </a:pPr>
            <a:r>
              <a:rPr b="1" i="0" lang="en-US" sz="1300" u="none" cap="none" strike="noStrike">
                <a:solidFill>
                  <a:srgbClr val="F2A7B2"/>
                </a:solidFill>
                <a:latin typeface="Calibri"/>
                <a:ea typeface="Calibri"/>
                <a:cs typeface="Calibri"/>
                <a:sym typeface="Calibri"/>
              </a:rPr>
              <a:t>PRIMARY QUESTION</a:t>
            </a:r>
            <a:endParaRPr b="0" i="0" sz="1300" u="none" cap="none" strike="noStrike">
              <a:solidFill>
                <a:schemeClr val="dk1"/>
              </a:solidFill>
              <a:latin typeface="Calibri"/>
              <a:ea typeface="Calibri"/>
              <a:cs typeface="Calibri"/>
              <a:sym typeface="Calibri"/>
            </a:endParaRPr>
          </a:p>
        </p:txBody>
      </p:sp>
      <p:sp>
        <p:nvSpPr>
          <p:cNvPr id="59" name="Google Shape;59;p5"/>
          <p:cNvSpPr txBox="1"/>
          <p:nvPr/>
        </p:nvSpPr>
        <p:spPr>
          <a:xfrm>
            <a:off x="7772400" y="3291840"/>
            <a:ext cx="356616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100"/>
              <a:buFont typeface="Cambria"/>
              <a:buNone/>
            </a:pPr>
            <a:r>
              <a:rPr b="0" i="0" lang="en-US" sz="2100" u="none" cap="none" strike="noStrike">
                <a:solidFill>
                  <a:srgbClr val="FFFFFF"/>
                </a:solidFill>
                <a:latin typeface="Cambria"/>
                <a:ea typeface="Cambria"/>
                <a:cs typeface="Cambria"/>
                <a:sym typeface="Cambria"/>
              </a:rPr>
              <a:t>How often do children with cardiac disease admitted with SARI test positive for RSV, and which of them do?</a:t>
            </a:r>
            <a:endParaRPr b="0" i="0" sz="2100" u="none" cap="none" strike="noStrike">
              <a:solidFill>
                <a:schemeClr val="dk1"/>
              </a:solidFill>
              <a:latin typeface="Calibri"/>
              <a:ea typeface="Calibri"/>
              <a:cs typeface="Calibri"/>
              <a:sym typeface="Calibri"/>
            </a:endParaRPr>
          </a:p>
        </p:txBody>
      </p:sp>
      <p:sp>
        <p:nvSpPr>
          <p:cNvPr id="60" name="Google Shape;60;p5"/>
          <p:cNvSpPr txBox="1"/>
          <p:nvPr/>
        </p:nvSpPr>
        <p:spPr>
          <a:xfrm>
            <a:off x="7772400" y="4937760"/>
            <a:ext cx="3566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E3"/>
              </a:buClr>
              <a:buSzPts val="1300"/>
              <a:buFont typeface="Calibri"/>
              <a:buNone/>
            </a:pPr>
            <a:r>
              <a:rPr b="0" i="1" lang="en-US" sz="1300" u="none" cap="none" strike="noStrike">
                <a:solidFill>
                  <a:srgbClr val="C9D3E3"/>
                </a:solidFill>
                <a:latin typeface="Calibri"/>
                <a:ea typeface="Calibri"/>
                <a:cs typeface="Calibri"/>
                <a:sym typeface="Calibri"/>
              </a:rPr>
              <a:t>Outcome: RSV RT-PCR result. Population: children with cardiac disease only.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6"/>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Who was studied: children under five with cardiac disease</a:t>
            </a:r>
            <a:endParaRPr b="0" i="0" sz="2900" u="none" cap="none" strike="noStrike">
              <a:solidFill>
                <a:schemeClr val="dk1"/>
              </a:solidFill>
              <a:latin typeface="Calibri"/>
              <a:ea typeface="Calibri"/>
              <a:cs typeface="Calibri"/>
              <a:sym typeface="Calibri"/>
            </a:endParaRPr>
          </a:p>
        </p:txBody>
      </p:sp>
      <p:sp>
        <p:nvSpPr>
          <p:cNvPr id="67" name="Google Shape;67;p6"/>
          <p:cNvSpPr/>
          <p:nvPr/>
        </p:nvSpPr>
        <p:spPr>
          <a:xfrm>
            <a:off x="457200" y="1133856"/>
            <a:ext cx="3108960" cy="457200"/>
          </a:xfrm>
          <a:prstGeom prst="roundRect">
            <a:avLst>
              <a:gd fmla="val 12000" name="adj"/>
            </a:avLst>
          </a:prstGeom>
          <a:solidFill>
            <a:srgbClr val="F4F6FA"/>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nvSpPr>
        <p:spPr>
          <a:xfrm>
            <a:off x="512064" y="1133856"/>
            <a:ext cx="2999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430"/>
              </a:buClr>
              <a:buSzPts val="800"/>
              <a:buFont typeface="Calibri"/>
              <a:buNone/>
            </a:pPr>
            <a:r>
              <a:rPr b="0" i="0" lang="en-US" sz="800" u="none" cap="none" strike="noStrike">
                <a:solidFill>
                  <a:srgbClr val="1B2430"/>
                </a:solidFill>
                <a:latin typeface="Calibri"/>
                <a:ea typeface="Calibri"/>
                <a:cs typeface="Calibri"/>
                <a:sym typeface="Calibri"/>
              </a:rPr>
              <a:t>Records in the SARI/ILI surveillance dataset</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430"/>
              </a:buClr>
              <a:buSzPts val="800"/>
              <a:buFont typeface="Calibri"/>
              <a:buNone/>
            </a:pPr>
            <a:r>
              <a:rPr b="0" i="0" lang="en-US" sz="800" u="none" cap="none" strike="noStrike">
                <a:solidFill>
                  <a:srgbClr val="1B2430"/>
                </a:solidFill>
                <a:latin typeface="Calibri"/>
                <a:ea typeface="Calibri"/>
                <a:cs typeface="Calibri"/>
                <a:sym typeface="Calibri"/>
              </a:rPr>
              <a:t>n = 42,431</a:t>
            </a:r>
            <a:endParaRPr b="0" i="0" sz="800" u="none" cap="none" strike="noStrike">
              <a:solidFill>
                <a:schemeClr val="dk1"/>
              </a:solidFill>
              <a:latin typeface="Calibri"/>
              <a:ea typeface="Calibri"/>
              <a:cs typeface="Calibri"/>
              <a:sym typeface="Calibri"/>
            </a:endParaRPr>
          </a:p>
        </p:txBody>
      </p:sp>
      <p:cxnSp>
        <p:nvCxnSpPr>
          <p:cNvPr id="69" name="Google Shape;69;p6"/>
          <p:cNvCxnSpPr/>
          <p:nvPr/>
        </p:nvCxnSpPr>
        <p:spPr>
          <a:xfrm>
            <a:off x="2011680" y="1591056"/>
            <a:ext cx="0" cy="128016"/>
          </a:xfrm>
          <a:prstGeom prst="straightConnector1">
            <a:avLst/>
          </a:prstGeom>
          <a:noFill/>
          <a:ln cap="flat" cmpd="sng" w="15875">
            <a:solidFill>
              <a:srgbClr val="14213D"/>
            </a:solidFill>
            <a:prstDash val="solid"/>
            <a:round/>
            <a:headEnd len="sm" w="sm" type="none"/>
            <a:tailEnd len="med" w="med" type="triangle"/>
          </a:ln>
        </p:spPr>
      </p:cxnSp>
      <p:cxnSp>
        <p:nvCxnSpPr>
          <p:cNvPr id="70" name="Google Shape;70;p6"/>
          <p:cNvCxnSpPr/>
          <p:nvPr/>
        </p:nvCxnSpPr>
        <p:spPr>
          <a:xfrm>
            <a:off x="2011680" y="1655064"/>
            <a:ext cx="1691640" cy="0"/>
          </a:xfrm>
          <a:prstGeom prst="straightConnector1">
            <a:avLst/>
          </a:prstGeom>
          <a:noFill/>
          <a:ln cap="flat" cmpd="sng" w="12700">
            <a:solidFill>
              <a:srgbClr val="9AA5B4"/>
            </a:solidFill>
            <a:prstDash val="solid"/>
            <a:round/>
            <a:headEnd len="sm" w="sm" type="none"/>
            <a:tailEnd len="sm" w="sm" type="none"/>
          </a:ln>
        </p:spPr>
      </p:cxnSp>
      <p:sp>
        <p:nvSpPr>
          <p:cNvPr id="71" name="Google Shape;71;p6"/>
          <p:cNvSpPr/>
          <p:nvPr/>
        </p:nvSpPr>
        <p:spPr>
          <a:xfrm>
            <a:off x="3703320" y="1481328"/>
            <a:ext cx="1783080" cy="347472"/>
          </a:xfrm>
          <a:prstGeom prst="roundRect">
            <a:avLst>
              <a:gd fmla="val 15789" name="adj"/>
            </a:avLst>
          </a:prstGeom>
          <a:solidFill>
            <a:srgbClr val="FFFFFF"/>
          </a:solidFill>
          <a:ln cap="flat" cmpd="sng" w="12700">
            <a:solidFill>
              <a:srgbClr val="9AA5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txBox="1"/>
          <p:nvPr/>
        </p:nvSpPr>
        <p:spPr>
          <a:xfrm>
            <a:off x="3749040" y="1463040"/>
            <a:ext cx="16916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3"/>
              </a:buClr>
              <a:buSzPts val="750"/>
              <a:buFont typeface="Calibri"/>
              <a:buNone/>
            </a:pPr>
            <a:r>
              <a:rPr b="0" i="0" lang="en-US" sz="750" u="none" cap="none" strike="noStrike">
                <a:solidFill>
                  <a:srgbClr val="5B6573"/>
                </a:solidFill>
                <a:latin typeface="Calibri"/>
                <a:ea typeface="Calibri"/>
                <a:cs typeface="Calibri"/>
                <a:sym typeface="Calibri"/>
              </a:rPr>
              <a:t>Excluded 38,804:</a:t>
            </a:r>
            <a:br>
              <a:rPr b="0" i="0" lang="en-US" sz="750" u="none" cap="none" strike="noStrike">
                <a:solidFill>
                  <a:srgbClr val="5B6573"/>
                </a:solidFill>
                <a:latin typeface="Calibri"/>
                <a:ea typeface="Calibri"/>
                <a:cs typeface="Calibri"/>
                <a:sym typeface="Calibri"/>
              </a:rPr>
            </a:br>
            <a:r>
              <a:rPr b="0" i="0" lang="en-US" sz="750" u="none" cap="none" strike="noStrike">
                <a:solidFill>
                  <a:srgbClr val="5B6573"/>
                </a:solidFill>
                <a:latin typeface="Calibri"/>
                <a:ea typeface="Calibri"/>
                <a:cs typeface="Calibri"/>
                <a:sym typeface="Calibri"/>
              </a:rPr>
              <a:t> Not tested for RSV (testing began 2024)</a:t>
            </a:r>
            <a:endParaRPr b="0" i="0" sz="750" u="none" cap="none" strike="noStrike">
              <a:solidFill>
                <a:schemeClr val="dk1"/>
              </a:solidFill>
              <a:latin typeface="Calibri"/>
              <a:ea typeface="Calibri"/>
              <a:cs typeface="Calibri"/>
              <a:sym typeface="Calibri"/>
            </a:endParaRPr>
          </a:p>
        </p:txBody>
      </p:sp>
      <p:sp>
        <p:nvSpPr>
          <p:cNvPr id="73" name="Google Shape;73;p6"/>
          <p:cNvSpPr/>
          <p:nvPr/>
        </p:nvSpPr>
        <p:spPr>
          <a:xfrm>
            <a:off x="457200" y="1719072"/>
            <a:ext cx="3108960" cy="457200"/>
          </a:xfrm>
          <a:prstGeom prst="roundRect">
            <a:avLst>
              <a:gd fmla="val 12000" name="adj"/>
            </a:avLst>
          </a:prstGeom>
          <a:solidFill>
            <a:srgbClr val="F4F6FA"/>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txBox="1"/>
          <p:nvPr/>
        </p:nvSpPr>
        <p:spPr>
          <a:xfrm>
            <a:off x="512064" y="1719072"/>
            <a:ext cx="2999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430"/>
              </a:buClr>
              <a:buSzPts val="800"/>
              <a:buFont typeface="Calibri"/>
              <a:buNone/>
            </a:pPr>
            <a:r>
              <a:rPr b="0" i="0" lang="en-US" sz="800" u="none" cap="none" strike="noStrike">
                <a:solidFill>
                  <a:srgbClr val="1B2430"/>
                </a:solidFill>
                <a:latin typeface="Calibri"/>
                <a:ea typeface="Calibri"/>
                <a:cs typeface="Calibri"/>
                <a:sym typeface="Calibri"/>
              </a:rPr>
              <a:t>RSV RT-PCR result available (testing from 2024)</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430"/>
              </a:buClr>
              <a:buSzPts val="800"/>
              <a:buFont typeface="Calibri"/>
              <a:buNone/>
            </a:pPr>
            <a:r>
              <a:rPr lang="en-US" sz="800">
                <a:solidFill>
                  <a:srgbClr val="1B2430"/>
                </a:solidFill>
                <a:latin typeface="Calibri"/>
                <a:ea typeface="Calibri"/>
                <a:cs typeface="Calibri"/>
                <a:sym typeface="Calibri"/>
              </a:rPr>
              <a:t>n </a:t>
            </a:r>
            <a:r>
              <a:rPr b="0" i="0" lang="en-US" sz="800" u="none" cap="none" strike="noStrike">
                <a:solidFill>
                  <a:srgbClr val="1B2430"/>
                </a:solidFill>
                <a:latin typeface="Calibri"/>
                <a:ea typeface="Calibri"/>
                <a:cs typeface="Calibri"/>
                <a:sym typeface="Calibri"/>
              </a:rPr>
              <a:t> = 3,627</a:t>
            </a:r>
            <a:endParaRPr b="0" i="0" sz="800" u="none" cap="none" strike="noStrike">
              <a:solidFill>
                <a:schemeClr val="dk1"/>
              </a:solidFill>
              <a:latin typeface="Calibri"/>
              <a:ea typeface="Calibri"/>
              <a:cs typeface="Calibri"/>
              <a:sym typeface="Calibri"/>
            </a:endParaRPr>
          </a:p>
        </p:txBody>
      </p:sp>
      <p:cxnSp>
        <p:nvCxnSpPr>
          <p:cNvPr id="75" name="Google Shape;75;p6"/>
          <p:cNvCxnSpPr/>
          <p:nvPr/>
        </p:nvCxnSpPr>
        <p:spPr>
          <a:xfrm>
            <a:off x="2011680" y="2176272"/>
            <a:ext cx="0" cy="128016"/>
          </a:xfrm>
          <a:prstGeom prst="straightConnector1">
            <a:avLst/>
          </a:prstGeom>
          <a:noFill/>
          <a:ln cap="flat" cmpd="sng" w="15875">
            <a:solidFill>
              <a:srgbClr val="14213D"/>
            </a:solidFill>
            <a:prstDash val="solid"/>
            <a:round/>
            <a:headEnd len="sm" w="sm" type="none"/>
            <a:tailEnd len="med" w="med" type="triangle"/>
          </a:ln>
        </p:spPr>
      </p:cxnSp>
      <p:cxnSp>
        <p:nvCxnSpPr>
          <p:cNvPr id="76" name="Google Shape;76;p6"/>
          <p:cNvCxnSpPr/>
          <p:nvPr/>
        </p:nvCxnSpPr>
        <p:spPr>
          <a:xfrm>
            <a:off x="2011680" y="2240280"/>
            <a:ext cx="1691640" cy="0"/>
          </a:xfrm>
          <a:prstGeom prst="straightConnector1">
            <a:avLst/>
          </a:prstGeom>
          <a:noFill/>
          <a:ln cap="flat" cmpd="sng" w="12700">
            <a:solidFill>
              <a:srgbClr val="9AA5B4"/>
            </a:solidFill>
            <a:prstDash val="solid"/>
            <a:round/>
            <a:headEnd len="sm" w="sm" type="none"/>
            <a:tailEnd len="sm" w="sm" type="none"/>
          </a:ln>
        </p:spPr>
      </p:cxnSp>
      <p:sp>
        <p:nvSpPr>
          <p:cNvPr id="77" name="Google Shape;77;p6"/>
          <p:cNvSpPr/>
          <p:nvPr/>
        </p:nvSpPr>
        <p:spPr>
          <a:xfrm>
            <a:off x="3703320" y="2066544"/>
            <a:ext cx="1783080" cy="347472"/>
          </a:xfrm>
          <a:prstGeom prst="roundRect">
            <a:avLst>
              <a:gd fmla="val 15789" name="adj"/>
            </a:avLst>
          </a:prstGeom>
          <a:solidFill>
            <a:srgbClr val="FFFFFF"/>
          </a:solidFill>
          <a:ln cap="flat" cmpd="sng" w="12700">
            <a:solidFill>
              <a:srgbClr val="9AA5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txBox="1"/>
          <p:nvPr/>
        </p:nvSpPr>
        <p:spPr>
          <a:xfrm>
            <a:off x="3749040" y="2048256"/>
            <a:ext cx="16916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3"/>
              </a:buClr>
              <a:buSzPts val="750"/>
              <a:buFont typeface="Calibri"/>
              <a:buNone/>
            </a:pPr>
            <a:r>
              <a:rPr b="0" i="0" lang="en-US" sz="750" u="none" cap="none" strike="noStrike">
                <a:solidFill>
                  <a:srgbClr val="5B6573"/>
                </a:solidFill>
                <a:latin typeface="Calibri"/>
                <a:ea typeface="Calibri"/>
                <a:cs typeface="Calibri"/>
                <a:sym typeface="Calibri"/>
              </a:rPr>
              <a:t>Excluded 73: </a:t>
            </a:r>
            <a:br>
              <a:rPr b="0" i="0" lang="en-US" sz="750" u="none" cap="none" strike="noStrike">
                <a:solidFill>
                  <a:srgbClr val="5B6573"/>
                </a:solidFill>
                <a:latin typeface="Calibri"/>
                <a:ea typeface="Calibri"/>
                <a:cs typeface="Calibri"/>
                <a:sym typeface="Calibri"/>
              </a:rPr>
            </a:br>
            <a:r>
              <a:rPr b="0" i="0" lang="en-US" sz="750" u="none" cap="none" strike="noStrike">
                <a:solidFill>
                  <a:srgbClr val="5B6573"/>
                </a:solidFill>
                <a:latin typeface="Calibri"/>
                <a:ea typeface="Calibri"/>
                <a:cs typeface="Calibri"/>
                <a:sym typeface="Calibri"/>
              </a:rPr>
              <a:t>Aged ≥5 years</a:t>
            </a:r>
            <a:endParaRPr b="0" i="0" sz="750" u="none" cap="none" strike="noStrike">
              <a:solidFill>
                <a:schemeClr val="dk1"/>
              </a:solidFill>
              <a:latin typeface="Calibri"/>
              <a:ea typeface="Calibri"/>
              <a:cs typeface="Calibri"/>
              <a:sym typeface="Calibri"/>
            </a:endParaRPr>
          </a:p>
        </p:txBody>
      </p:sp>
      <p:sp>
        <p:nvSpPr>
          <p:cNvPr id="79" name="Google Shape;79;p6"/>
          <p:cNvSpPr/>
          <p:nvPr/>
        </p:nvSpPr>
        <p:spPr>
          <a:xfrm>
            <a:off x="457200" y="2304288"/>
            <a:ext cx="3108960" cy="457200"/>
          </a:xfrm>
          <a:prstGeom prst="roundRect">
            <a:avLst>
              <a:gd fmla="val 12000" name="adj"/>
            </a:avLst>
          </a:prstGeom>
          <a:solidFill>
            <a:srgbClr val="F4F6FA"/>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txBox="1"/>
          <p:nvPr/>
        </p:nvSpPr>
        <p:spPr>
          <a:xfrm>
            <a:off x="512064" y="2304288"/>
            <a:ext cx="2999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430"/>
              </a:buClr>
              <a:buSzPts val="800"/>
              <a:buFont typeface="Calibri"/>
              <a:buNone/>
            </a:pPr>
            <a:r>
              <a:rPr b="0" i="0" lang="en-US" sz="800" u="none" cap="none" strike="noStrike">
                <a:solidFill>
                  <a:srgbClr val="1B2430"/>
                </a:solidFill>
                <a:latin typeface="Calibri"/>
                <a:ea typeface="Calibri"/>
                <a:cs typeface="Calibri"/>
                <a:sym typeface="Calibri"/>
              </a:rPr>
              <a:t>Aged 0–59 months (&lt;5 years)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430"/>
              </a:buClr>
              <a:buSzPts val="800"/>
              <a:buFont typeface="Calibri"/>
              <a:buNone/>
            </a:pPr>
            <a:r>
              <a:rPr lang="en-US" sz="800">
                <a:solidFill>
                  <a:srgbClr val="1B2430"/>
                </a:solidFill>
                <a:latin typeface="Calibri"/>
                <a:ea typeface="Calibri"/>
                <a:cs typeface="Calibri"/>
                <a:sym typeface="Calibri"/>
              </a:rPr>
              <a:t>n </a:t>
            </a:r>
            <a:r>
              <a:rPr b="0" i="0" lang="en-US" sz="800" u="none" cap="none" strike="noStrike">
                <a:solidFill>
                  <a:srgbClr val="1B2430"/>
                </a:solidFill>
                <a:latin typeface="Calibri"/>
                <a:ea typeface="Calibri"/>
                <a:cs typeface="Calibri"/>
                <a:sym typeface="Calibri"/>
              </a:rPr>
              <a:t> = 3,554</a:t>
            </a:r>
            <a:endParaRPr b="0" i="0" sz="800" u="none" cap="none" strike="noStrike">
              <a:solidFill>
                <a:schemeClr val="dk1"/>
              </a:solidFill>
              <a:latin typeface="Calibri"/>
              <a:ea typeface="Calibri"/>
              <a:cs typeface="Calibri"/>
              <a:sym typeface="Calibri"/>
            </a:endParaRPr>
          </a:p>
        </p:txBody>
      </p:sp>
      <p:cxnSp>
        <p:nvCxnSpPr>
          <p:cNvPr id="81" name="Google Shape;81;p6"/>
          <p:cNvCxnSpPr/>
          <p:nvPr/>
        </p:nvCxnSpPr>
        <p:spPr>
          <a:xfrm>
            <a:off x="2011680" y="2761488"/>
            <a:ext cx="0" cy="128016"/>
          </a:xfrm>
          <a:prstGeom prst="straightConnector1">
            <a:avLst/>
          </a:prstGeom>
          <a:noFill/>
          <a:ln cap="flat" cmpd="sng" w="15875">
            <a:solidFill>
              <a:srgbClr val="14213D"/>
            </a:solidFill>
            <a:prstDash val="solid"/>
            <a:round/>
            <a:headEnd len="sm" w="sm" type="none"/>
            <a:tailEnd len="med" w="med" type="triangle"/>
          </a:ln>
        </p:spPr>
      </p:cxnSp>
      <p:cxnSp>
        <p:nvCxnSpPr>
          <p:cNvPr id="82" name="Google Shape;82;p6"/>
          <p:cNvCxnSpPr/>
          <p:nvPr/>
        </p:nvCxnSpPr>
        <p:spPr>
          <a:xfrm>
            <a:off x="2011680" y="2825496"/>
            <a:ext cx="1691640" cy="0"/>
          </a:xfrm>
          <a:prstGeom prst="straightConnector1">
            <a:avLst/>
          </a:prstGeom>
          <a:noFill/>
          <a:ln cap="flat" cmpd="sng" w="12700">
            <a:solidFill>
              <a:srgbClr val="9AA5B4"/>
            </a:solidFill>
            <a:prstDash val="solid"/>
            <a:round/>
            <a:headEnd len="sm" w="sm" type="none"/>
            <a:tailEnd len="sm" w="sm" type="none"/>
          </a:ln>
        </p:spPr>
      </p:cxnSp>
      <p:sp>
        <p:nvSpPr>
          <p:cNvPr id="83" name="Google Shape;83;p6"/>
          <p:cNvSpPr/>
          <p:nvPr/>
        </p:nvSpPr>
        <p:spPr>
          <a:xfrm>
            <a:off x="3703320" y="2651760"/>
            <a:ext cx="1783080" cy="347472"/>
          </a:xfrm>
          <a:prstGeom prst="roundRect">
            <a:avLst>
              <a:gd fmla="val 15789" name="adj"/>
            </a:avLst>
          </a:prstGeom>
          <a:solidFill>
            <a:srgbClr val="FFFFFF"/>
          </a:solidFill>
          <a:ln cap="flat" cmpd="sng" w="12700">
            <a:solidFill>
              <a:srgbClr val="9AA5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txBox="1"/>
          <p:nvPr/>
        </p:nvSpPr>
        <p:spPr>
          <a:xfrm>
            <a:off x="3749040" y="2633472"/>
            <a:ext cx="16916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3"/>
              </a:buClr>
              <a:buSzPts val="750"/>
              <a:buFont typeface="Calibri"/>
              <a:buNone/>
            </a:pPr>
            <a:r>
              <a:rPr b="0" i="0" lang="en-US" sz="750" u="none" cap="none" strike="noStrike">
                <a:solidFill>
                  <a:srgbClr val="5B6573"/>
                </a:solidFill>
                <a:latin typeface="Calibri"/>
                <a:ea typeface="Calibri"/>
                <a:cs typeface="Calibri"/>
                <a:sym typeface="Calibri"/>
              </a:rPr>
              <a:t>Excluded 145:</a:t>
            </a:r>
            <a:br>
              <a:rPr b="0" i="0" lang="en-US" sz="750" u="none" cap="none" strike="noStrike">
                <a:solidFill>
                  <a:srgbClr val="5B6573"/>
                </a:solidFill>
                <a:latin typeface="Calibri"/>
                <a:ea typeface="Calibri"/>
                <a:cs typeface="Calibri"/>
                <a:sym typeface="Calibri"/>
              </a:rPr>
            </a:br>
            <a:r>
              <a:rPr b="0" i="0" lang="en-US" sz="750" u="none" cap="none" strike="noStrike">
                <a:solidFill>
                  <a:srgbClr val="5B6573"/>
                </a:solidFill>
                <a:latin typeface="Calibri"/>
                <a:ea typeface="Calibri"/>
                <a:cs typeface="Calibri"/>
                <a:sym typeface="Calibri"/>
              </a:rPr>
              <a:t> Not admitted to hospital</a:t>
            </a:r>
            <a:endParaRPr b="0" i="0" sz="750" u="none" cap="none" strike="noStrike">
              <a:solidFill>
                <a:schemeClr val="dk1"/>
              </a:solidFill>
              <a:latin typeface="Calibri"/>
              <a:ea typeface="Calibri"/>
              <a:cs typeface="Calibri"/>
              <a:sym typeface="Calibri"/>
            </a:endParaRPr>
          </a:p>
        </p:txBody>
      </p:sp>
      <p:sp>
        <p:nvSpPr>
          <p:cNvPr id="85" name="Google Shape;85;p6"/>
          <p:cNvSpPr/>
          <p:nvPr/>
        </p:nvSpPr>
        <p:spPr>
          <a:xfrm>
            <a:off x="457200" y="2889504"/>
            <a:ext cx="3108960" cy="457200"/>
          </a:xfrm>
          <a:prstGeom prst="roundRect">
            <a:avLst>
              <a:gd fmla="val 12000" name="adj"/>
            </a:avLst>
          </a:prstGeom>
          <a:solidFill>
            <a:srgbClr val="F4F6FA"/>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txBox="1"/>
          <p:nvPr/>
        </p:nvSpPr>
        <p:spPr>
          <a:xfrm>
            <a:off x="512064" y="2889504"/>
            <a:ext cx="2999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430"/>
              </a:buClr>
              <a:buSzPts val="800"/>
              <a:buFont typeface="Calibri"/>
              <a:buNone/>
            </a:pPr>
            <a:r>
              <a:rPr b="0" i="0" lang="en-US" sz="800" u="none" cap="none" strike="noStrike">
                <a:solidFill>
                  <a:srgbClr val="1B2430"/>
                </a:solidFill>
                <a:latin typeface="Calibri"/>
                <a:ea typeface="Calibri"/>
                <a:cs typeface="Calibri"/>
                <a:sym typeface="Calibri"/>
              </a:rPr>
              <a:t>Admitted to hospital (admission date recorded)</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430"/>
              </a:buClr>
              <a:buSzPts val="800"/>
              <a:buFont typeface="Calibri"/>
              <a:buNone/>
            </a:pPr>
            <a:r>
              <a:rPr lang="en-US" sz="800">
                <a:solidFill>
                  <a:srgbClr val="1B2430"/>
                </a:solidFill>
                <a:latin typeface="Calibri"/>
                <a:ea typeface="Calibri"/>
                <a:cs typeface="Calibri"/>
                <a:sym typeface="Calibri"/>
              </a:rPr>
              <a:t>n </a:t>
            </a:r>
            <a:r>
              <a:rPr b="0" i="0" lang="en-US" sz="800" u="none" cap="none" strike="noStrike">
                <a:solidFill>
                  <a:srgbClr val="1B2430"/>
                </a:solidFill>
                <a:latin typeface="Calibri"/>
                <a:ea typeface="Calibri"/>
                <a:cs typeface="Calibri"/>
                <a:sym typeface="Calibri"/>
              </a:rPr>
              <a:t> = 3,409</a:t>
            </a:r>
            <a:endParaRPr b="0" i="0" sz="800" u="none" cap="none" strike="noStrike">
              <a:solidFill>
                <a:schemeClr val="dk1"/>
              </a:solidFill>
              <a:latin typeface="Calibri"/>
              <a:ea typeface="Calibri"/>
              <a:cs typeface="Calibri"/>
              <a:sym typeface="Calibri"/>
            </a:endParaRPr>
          </a:p>
        </p:txBody>
      </p:sp>
      <p:cxnSp>
        <p:nvCxnSpPr>
          <p:cNvPr id="87" name="Google Shape;87;p6"/>
          <p:cNvCxnSpPr/>
          <p:nvPr/>
        </p:nvCxnSpPr>
        <p:spPr>
          <a:xfrm>
            <a:off x="2011680" y="3346704"/>
            <a:ext cx="0" cy="128016"/>
          </a:xfrm>
          <a:prstGeom prst="straightConnector1">
            <a:avLst/>
          </a:prstGeom>
          <a:noFill/>
          <a:ln cap="flat" cmpd="sng" w="15875">
            <a:solidFill>
              <a:srgbClr val="14213D"/>
            </a:solidFill>
            <a:prstDash val="solid"/>
            <a:round/>
            <a:headEnd len="sm" w="sm" type="none"/>
            <a:tailEnd len="med" w="med" type="triangle"/>
          </a:ln>
        </p:spPr>
      </p:cxnSp>
      <p:cxnSp>
        <p:nvCxnSpPr>
          <p:cNvPr id="88" name="Google Shape;88;p6"/>
          <p:cNvCxnSpPr/>
          <p:nvPr/>
        </p:nvCxnSpPr>
        <p:spPr>
          <a:xfrm>
            <a:off x="2011680" y="3410712"/>
            <a:ext cx="1691640" cy="0"/>
          </a:xfrm>
          <a:prstGeom prst="straightConnector1">
            <a:avLst/>
          </a:prstGeom>
          <a:noFill/>
          <a:ln cap="flat" cmpd="sng" w="12700">
            <a:solidFill>
              <a:srgbClr val="9AA5B4"/>
            </a:solidFill>
            <a:prstDash val="solid"/>
            <a:round/>
            <a:headEnd len="sm" w="sm" type="none"/>
            <a:tailEnd len="sm" w="sm" type="none"/>
          </a:ln>
        </p:spPr>
      </p:cxnSp>
      <p:sp>
        <p:nvSpPr>
          <p:cNvPr id="89" name="Google Shape;89;p6"/>
          <p:cNvSpPr/>
          <p:nvPr/>
        </p:nvSpPr>
        <p:spPr>
          <a:xfrm>
            <a:off x="3703320" y="3236976"/>
            <a:ext cx="1783080" cy="347472"/>
          </a:xfrm>
          <a:prstGeom prst="roundRect">
            <a:avLst>
              <a:gd fmla="val 15789" name="adj"/>
            </a:avLst>
          </a:prstGeom>
          <a:solidFill>
            <a:srgbClr val="FFFFFF"/>
          </a:solidFill>
          <a:ln cap="flat" cmpd="sng" w="12700">
            <a:solidFill>
              <a:srgbClr val="9AA5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txBox="1"/>
          <p:nvPr/>
        </p:nvSpPr>
        <p:spPr>
          <a:xfrm>
            <a:off x="3749040" y="3218688"/>
            <a:ext cx="16916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3"/>
              </a:buClr>
              <a:buSzPts val="750"/>
              <a:buFont typeface="Calibri"/>
              <a:buNone/>
            </a:pPr>
            <a:r>
              <a:rPr b="0" i="0" lang="en-US" sz="750" u="none" cap="none" strike="noStrike">
                <a:solidFill>
                  <a:srgbClr val="5B6573"/>
                </a:solidFill>
                <a:latin typeface="Calibri"/>
                <a:ea typeface="Calibri"/>
                <a:cs typeface="Calibri"/>
                <a:sym typeface="Calibri"/>
              </a:rPr>
              <a:t>Excluded 20:</a:t>
            </a:r>
            <a:br>
              <a:rPr b="0" i="0" lang="en-US" sz="750" u="none" cap="none" strike="noStrike">
                <a:solidFill>
                  <a:srgbClr val="5B6573"/>
                </a:solidFill>
                <a:latin typeface="Calibri"/>
                <a:ea typeface="Calibri"/>
                <a:cs typeface="Calibri"/>
                <a:sym typeface="Calibri"/>
              </a:rPr>
            </a:br>
            <a:r>
              <a:rPr b="0" i="0" lang="en-US" sz="750" u="none" cap="none" strike="noStrike">
                <a:solidFill>
                  <a:srgbClr val="5B6573"/>
                </a:solidFill>
                <a:latin typeface="Calibri"/>
                <a:ea typeface="Calibri"/>
                <a:cs typeface="Calibri"/>
                <a:sym typeface="Calibri"/>
              </a:rPr>
              <a:t> Outpatient ILI case definition</a:t>
            </a:r>
            <a:endParaRPr b="0" i="0" sz="750" u="none" cap="none" strike="noStrike">
              <a:solidFill>
                <a:schemeClr val="dk1"/>
              </a:solidFill>
              <a:latin typeface="Calibri"/>
              <a:ea typeface="Calibri"/>
              <a:cs typeface="Calibri"/>
              <a:sym typeface="Calibri"/>
            </a:endParaRPr>
          </a:p>
        </p:txBody>
      </p:sp>
      <p:sp>
        <p:nvSpPr>
          <p:cNvPr id="91" name="Google Shape;91;p6"/>
          <p:cNvSpPr/>
          <p:nvPr/>
        </p:nvSpPr>
        <p:spPr>
          <a:xfrm>
            <a:off x="457200" y="3474720"/>
            <a:ext cx="3108960" cy="457200"/>
          </a:xfrm>
          <a:prstGeom prst="roundRect">
            <a:avLst>
              <a:gd fmla="val 12000" name="adj"/>
            </a:avLst>
          </a:prstGeom>
          <a:solidFill>
            <a:srgbClr val="F4F6FA"/>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txBox="1"/>
          <p:nvPr/>
        </p:nvSpPr>
        <p:spPr>
          <a:xfrm>
            <a:off x="512064" y="3474720"/>
            <a:ext cx="2999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430"/>
              </a:buClr>
              <a:buSzPts val="800"/>
              <a:buFont typeface="Calibri"/>
              <a:buNone/>
            </a:pPr>
            <a:r>
              <a:rPr b="0" i="0" lang="en-US" sz="800" u="none" cap="none" strike="noStrike">
                <a:solidFill>
                  <a:srgbClr val="1B2430"/>
                </a:solidFill>
                <a:latin typeface="Calibri"/>
                <a:ea typeface="Calibri"/>
                <a:cs typeface="Calibri"/>
                <a:sym typeface="Calibri"/>
              </a:rPr>
              <a:t>Met an inpatient SARI case definition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430"/>
              </a:buClr>
              <a:buSzPts val="800"/>
              <a:buFont typeface="Calibri"/>
              <a:buNone/>
            </a:pPr>
            <a:r>
              <a:rPr lang="en-US" sz="800">
                <a:solidFill>
                  <a:srgbClr val="1B2430"/>
                </a:solidFill>
                <a:latin typeface="Calibri"/>
                <a:ea typeface="Calibri"/>
                <a:cs typeface="Calibri"/>
                <a:sym typeface="Calibri"/>
              </a:rPr>
              <a:t>n </a:t>
            </a:r>
            <a:r>
              <a:rPr b="0" i="0" lang="en-US" sz="800" u="none" cap="none" strike="noStrike">
                <a:solidFill>
                  <a:srgbClr val="1B2430"/>
                </a:solidFill>
                <a:latin typeface="Calibri"/>
                <a:ea typeface="Calibri"/>
                <a:cs typeface="Calibri"/>
                <a:sym typeface="Calibri"/>
              </a:rPr>
              <a:t> = 3,389</a:t>
            </a:r>
            <a:endParaRPr b="0" i="0" sz="800" u="none" cap="none" strike="noStrike">
              <a:solidFill>
                <a:schemeClr val="dk1"/>
              </a:solidFill>
              <a:latin typeface="Calibri"/>
              <a:ea typeface="Calibri"/>
              <a:cs typeface="Calibri"/>
              <a:sym typeface="Calibri"/>
            </a:endParaRPr>
          </a:p>
        </p:txBody>
      </p:sp>
      <p:cxnSp>
        <p:nvCxnSpPr>
          <p:cNvPr id="93" name="Google Shape;93;p6"/>
          <p:cNvCxnSpPr/>
          <p:nvPr/>
        </p:nvCxnSpPr>
        <p:spPr>
          <a:xfrm>
            <a:off x="2011680" y="3931920"/>
            <a:ext cx="0" cy="128016"/>
          </a:xfrm>
          <a:prstGeom prst="straightConnector1">
            <a:avLst/>
          </a:prstGeom>
          <a:noFill/>
          <a:ln cap="flat" cmpd="sng" w="15875">
            <a:solidFill>
              <a:srgbClr val="14213D"/>
            </a:solidFill>
            <a:prstDash val="solid"/>
            <a:round/>
            <a:headEnd len="sm" w="sm" type="none"/>
            <a:tailEnd len="med" w="med" type="triangle"/>
          </a:ln>
        </p:spPr>
      </p:cxnSp>
      <p:cxnSp>
        <p:nvCxnSpPr>
          <p:cNvPr id="94" name="Google Shape;94;p6"/>
          <p:cNvCxnSpPr/>
          <p:nvPr/>
        </p:nvCxnSpPr>
        <p:spPr>
          <a:xfrm>
            <a:off x="2011680" y="3995928"/>
            <a:ext cx="1691640" cy="0"/>
          </a:xfrm>
          <a:prstGeom prst="straightConnector1">
            <a:avLst/>
          </a:prstGeom>
          <a:noFill/>
          <a:ln cap="flat" cmpd="sng" w="12700">
            <a:solidFill>
              <a:srgbClr val="9AA5B4"/>
            </a:solidFill>
            <a:prstDash val="solid"/>
            <a:round/>
            <a:headEnd len="sm" w="sm" type="none"/>
            <a:tailEnd len="sm" w="sm" type="none"/>
          </a:ln>
        </p:spPr>
      </p:cxnSp>
      <p:sp>
        <p:nvSpPr>
          <p:cNvPr id="95" name="Google Shape;95;p6"/>
          <p:cNvSpPr/>
          <p:nvPr/>
        </p:nvSpPr>
        <p:spPr>
          <a:xfrm>
            <a:off x="3703320" y="3822192"/>
            <a:ext cx="1783080" cy="347472"/>
          </a:xfrm>
          <a:prstGeom prst="roundRect">
            <a:avLst>
              <a:gd fmla="val 15789" name="adj"/>
            </a:avLst>
          </a:prstGeom>
          <a:solidFill>
            <a:srgbClr val="FFFFFF"/>
          </a:solidFill>
          <a:ln cap="flat" cmpd="sng" w="12700">
            <a:solidFill>
              <a:srgbClr val="9AA5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txBox="1"/>
          <p:nvPr/>
        </p:nvSpPr>
        <p:spPr>
          <a:xfrm>
            <a:off x="3749040" y="3803904"/>
            <a:ext cx="16916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3"/>
              </a:buClr>
              <a:buSzPts val="750"/>
              <a:buFont typeface="Calibri"/>
              <a:buNone/>
            </a:pPr>
            <a:r>
              <a:rPr b="0" i="0" lang="en-US" sz="750" u="none" cap="none" strike="noStrike">
                <a:solidFill>
                  <a:srgbClr val="5B6573"/>
                </a:solidFill>
                <a:latin typeface="Calibri"/>
                <a:ea typeface="Calibri"/>
                <a:cs typeface="Calibri"/>
                <a:sym typeface="Calibri"/>
              </a:rPr>
              <a:t>Excluded 23: </a:t>
            </a:r>
            <a:br>
              <a:rPr b="0" i="0" lang="en-US" sz="750" u="none" cap="none" strike="noStrike">
                <a:solidFill>
                  <a:srgbClr val="5B6573"/>
                </a:solidFill>
                <a:latin typeface="Calibri"/>
                <a:ea typeface="Calibri"/>
                <a:cs typeface="Calibri"/>
                <a:sym typeface="Calibri"/>
              </a:rPr>
            </a:br>
            <a:r>
              <a:rPr b="0" i="0" lang="en-US" sz="750" u="none" cap="none" strike="noStrike">
                <a:solidFill>
                  <a:srgbClr val="5B6573"/>
                </a:solidFill>
                <a:latin typeface="Calibri"/>
                <a:ea typeface="Calibri"/>
                <a:cs typeface="Calibri"/>
                <a:sym typeface="Calibri"/>
              </a:rPr>
              <a:t>Site contributing &lt;50 children</a:t>
            </a:r>
            <a:endParaRPr b="0" i="0" sz="750" u="none" cap="none" strike="noStrike">
              <a:solidFill>
                <a:schemeClr val="dk1"/>
              </a:solidFill>
              <a:latin typeface="Calibri"/>
              <a:ea typeface="Calibri"/>
              <a:cs typeface="Calibri"/>
              <a:sym typeface="Calibri"/>
            </a:endParaRPr>
          </a:p>
        </p:txBody>
      </p:sp>
      <p:sp>
        <p:nvSpPr>
          <p:cNvPr id="97" name="Google Shape;97;p6"/>
          <p:cNvSpPr/>
          <p:nvPr/>
        </p:nvSpPr>
        <p:spPr>
          <a:xfrm>
            <a:off x="457200" y="4059936"/>
            <a:ext cx="3108960" cy="457200"/>
          </a:xfrm>
          <a:prstGeom prst="roundRect">
            <a:avLst>
              <a:gd fmla="val 12000" name="adj"/>
            </a:avLst>
          </a:prstGeom>
          <a:solidFill>
            <a:srgbClr val="F4F6FA"/>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txBox="1"/>
          <p:nvPr/>
        </p:nvSpPr>
        <p:spPr>
          <a:xfrm>
            <a:off x="512064" y="4059936"/>
            <a:ext cx="2999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430"/>
              </a:buClr>
              <a:buSzPts val="800"/>
              <a:buFont typeface="Calibri"/>
              <a:buNone/>
            </a:pPr>
            <a:r>
              <a:rPr b="0" i="0" lang="en-US" sz="800" u="none" cap="none" strike="noStrike">
                <a:solidFill>
                  <a:srgbClr val="1B2430"/>
                </a:solidFill>
                <a:latin typeface="Calibri"/>
                <a:ea typeface="Calibri"/>
                <a:cs typeface="Calibri"/>
                <a:sym typeface="Calibri"/>
              </a:rPr>
              <a:t>Enrolled at a sentinel site contributing ≥50 children</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430"/>
              </a:buClr>
              <a:buSzPts val="800"/>
              <a:buFont typeface="Calibri"/>
              <a:buNone/>
            </a:pPr>
            <a:r>
              <a:rPr lang="en-US" sz="800">
                <a:solidFill>
                  <a:srgbClr val="1B2430"/>
                </a:solidFill>
                <a:latin typeface="Calibri"/>
                <a:ea typeface="Calibri"/>
                <a:cs typeface="Calibri"/>
                <a:sym typeface="Calibri"/>
              </a:rPr>
              <a:t>n </a:t>
            </a:r>
            <a:r>
              <a:rPr b="0" i="0" lang="en-US" sz="800" u="none" cap="none" strike="noStrike">
                <a:solidFill>
                  <a:srgbClr val="1B2430"/>
                </a:solidFill>
                <a:latin typeface="Calibri"/>
                <a:ea typeface="Calibri"/>
                <a:cs typeface="Calibri"/>
                <a:sym typeface="Calibri"/>
              </a:rPr>
              <a:t> = 3,366</a:t>
            </a:r>
            <a:endParaRPr b="0" i="0" sz="800" u="none" cap="none" strike="noStrike">
              <a:solidFill>
                <a:schemeClr val="dk1"/>
              </a:solidFill>
              <a:latin typeface="Calibri"/>
              <a:ea typeface="Calibri"/>
              <a:cs typeface="Calibri"/>
              <a:sym typeface="Calibri"/>
            </a:endParaRPr>
          </a:p>
        </p:txBody>
      </p:sp>
      <p:cxnSp>
        <p:nvCxnSpPr>
          <p:cNvPr id="99" name="Google Shape;99;p6"/>
          <p:cNvCxnSpPr/>
          <p:nvPr/>
        </p:nvCxnSpPr>
        <p:spPr>
          <a:xfrm>
            <a:off x="2011680" y="4517136"/>
            <a:ext cx="0" cy="128016"/>
          </a:xfrm>
          <a:prstGeom prst="straightConnector1">
            <a:avLst/>
          </a:prstGeom>
          <a:noFill/>
          <a:ln cap="flat" cmpd="sng" w="15875">
            <a:solidFill>
              <a:srgbClr val="14213D"/>
            </a:solidFill>
            <a:prstDash val="solid"/>
            <a:round/>
            <a:headEnd len="sm" w="sm" type="none"/>
            <a:tailEnd len="med" w="med" type="triangle"/>
          </a:ln>
        </p:spPr>
      </p:cxnSp>
      <p:cxnSp>
        <p:nvCxnSpPr>
          <p:cNvPr id="100" name="Google Shape;100;p6"/>
          <p:cNvCxnSpPr/>
          <p:nvPr/>
        </p:nvCxnSpPr>
        <p:spPr>
          <a:xfrm>
            <a:off x="2011680" y="4581144"/>
            <a:ext cx="1691640" cy="0"/>
          </a:xfrm>
          <a:prstGeom prst="straightConnector1">
            <a:avLst/>
          </a:prstGeom>
          <a:noFill/>
          <a:ln cap="flat" cmpd="sng" w="12700">
            <a:solidFill>
              <a:srgbClr val="9AA5B4"/>
            </a:solidFill>
            <a:prstDash val="solid"/>
            <a:round/>
            <a:headEnd len="sm" w="sm" type="none"/>
            <a:tailEnd len="sm" w="sm" type="none"/>
          </a:ln>
        </p:spPr>
      </p:cxnSp>
      <p:sp>
        <p:nvSpPr>
          <p:cNvPr id="101" name="Google Shape;101;p6"/>
          <p:cNvSpPr/>
          <p:nvPr/>
        </p:nvSpPr>
        <p:spPr>
          <a:xfrm>
            <a:off x="3703320" y="4407408"/>
            <a:ext cx="1783080" cy="347472"/>
          </a:xfrm>
          <a:prstGeom prst="roundRect">
            <a:avLst>
              <a:gd fmla="val 15789" name="adj"/>
            </a:avLst>
          </a:prstGeom>
          <a:solidFill>
            <a:srgbClr val="FFFFFF"/>
          </a:solidFill>
          <a:ln cap="flat" cmpd="sng" w="12700">
            <a:solidFill>
              <a:srgbClr val="9AA5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txBox="1"/>
          <p:nvPr/>
        </p:nvSpPr>
        <p:spPr>
          <a:xfrm>
            <a:off x="3749040" y="4389120"/>
            <a:ext cx="16916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573"/>
              </a:buClr>
              <a:buSzPts val="750"/>
              <a:buFont typeface="Calibri"/>
              <a:buNone/>
            </a:pPr>
            <a:r>
              <a:rPr b="0" i="0" lang="en-US" sz="750" u="none" cap="none" strike="noStrike">
                <a:solidFill>
                  <a:srgbClr val="5B6573"/>
                </a:solidFill>
                <a:latin typeface="Calibri"/>
                <a:ea typeface="Calibri"/>
                <a:cs typeface="Calibri"/>
                <a:sym typeface="Calibri"/>
              </a:rPr>
              <a:t>Excluded 3,088:</a:t>
            </a:r>
            <a:br>
              <a:rPr b="0" i="0" lang="en-US" sz="750" u="none" cap="none" strike="noStrike">
                <a:solidFill>
                  <a:srgbClr val="5B6573"/>
                </a:solidFill>
                <a:latin typeface="Calibri"/>
                <a:ea typeface="Calibri"/>
                <a:cs typeface="Calibri"/>
                <a:sym typeface="Calibri"/>
              </a:rPr>
            </a:br>
            <a:r>
              <a:rPr b="0" i="0" lang="en-US" sz="750" u="none" cap="none" strike="noStrike">
                <a:solidFill>
                  <a:srgbClr val="5B6573"/>
                </a:solidFill>
                <a:latin typeface="Calibri"/>
                <a:ea typeface="Calibri"/>
                <a:cs typeface="Calibri"/>
                <a:sym typeface="Calibri"/>
              </a:rPr>
              <a:t> No cardiac disease</a:t>
            </a:r>
            <a:endParaRPr b="0" i="0" sz="750" u="none" cap="none" strike="noStrike">
              <a:solidFill>
                <a:schemeClr val="dk1"/>
              </a:solidFill>
              <a:latin typeface="Calibri"/>
              <a:ea typeface="Calibri"/>
              <a:cs typeface="Calibri"/>
              <a:sym typeface="Calibri"/>
            </a:endParaRPr>
          </a:p>
        </p:txBody>
      </p:sp>
      <p:sp>
        <p:nvSpPr>
          <p:cNvPr id="103" name="Google Shape;103;p6"/>
          <p:cNvSpPr/>
          <p:nvPr/>
        </p:nvSpPr>
        <p:spPr>
          <a:xfrm>
            <a:off x="457200" y="4645152"/>
            <a:ext cx="3108960" cy="457200"/>
          </a:xfrm>
          <a:prstGeom prst="roundRect">
            <a:avLst>
              <a:gd fmla="val 12000" name="adj"/>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txBox="1"/>
          <p:nvPr/>
        </p:nvSpPr>
        <p:spPr>
          <a:xfrm>
            <a:off x="512064" y="4645152"/>
            <a:ext cx="299923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Analysis population: children with cardiac disease</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n </a:t>
            </a:r>
            <a:r>
              <a:rPr b="1" i="0" lang="en-US" sz="800" u="none" cap="none" strike="noStrike">
                <a:solidFill>
                  <a:srgbClr val="FFFFFF"/>
                </a:solidFill>
                <a:latin typeface="Calibri"/>
                <a:ea typeface="Calibri"/>
                <a:cs typeface="Calibri"/>
                <a:sym typeface="Calibri"/>
              </a:rPr>
              <a:t>= 278</a:t>
            </a:r>
            <a:endParaRPr b="0" i="0" sz="800" u="none" cap="none" strike="noStrike">
              <a:solidFill>
                <a:schemeClr val="dk1"/>
              </a:solidFill>
              <a:latin typeface="Calibri"/>
              <a:ea typeface="Calibri"/>
              <a:cs typeface="Calibri"/>
              <a:sym typeface="Calibri"/>
            </a:endParaRPr>
          </a:p>
        </p:txBody>
      </p:sp>
      <p:cxnSp>
        <p:nvCxnSpPr>
          <p:cNvPr id="105" name="Google Shape;105;p6"/>
          <p:cNvCxnSpPr/>
          <p:nvPr/>
        </p:nvCxnSpPr>
        <p:spPr>
          <a:xfrm>
            <a:off x="2011680" y="5230368"/>
            <a:ext cx="0" cy="82296"/>
          </a:xfrm>
          <a:prstGeom prst="straightConnector1">
            <a:avLst/>
          </a:prstGeom>
          <a:noFill/>
          <a:ln cap="flat" cmpd="sng" w="13950">
            <a:solidFill>
              <a:srgbClr val="14213D"/>
            </a:solidFill>
            <a:prstDash val="solid"/>
            <a:round/>
            <a:headEnd len="sm" w="sm" type="none"/>
            <a:tailEnd len="sm" w="sm" type="none"/>
          </a:ln>
        </p:spPr>
      </p:cxnSp>
      <p:cxnSp>
        <p:nvCxnSpPr>
          <p:cNvPr id="106" name="Google Shape;106;p6"/>
          <p:cNvCxnSpPr/>
          <p:nvPr/>
        </p:nvCxnSpPr>
        <p:spPr>
          <a:xfrm>
            <a:off x="1234440" y="5312664"/>
            <a:ext cx="1645920" cy="0"/>
          </a:xfrm>
          <a:prstGeom prst="straightConnector1">
            <a:avLst/>
          </a:prstGeom>
          <a:noFill/>
          <a:ln cap="flat" cmpd="sng" w="13950">
            <a:solidFill>
              <a:srgbClr val="14213D"/>
            </a:solidFill>
            <a:prstDash val="solid"/>
            <a:round/>
            <a:headEnd len="sm" w="sm" type="none"/>
            <a:tailEnd len="sm" w="sm" type="none"/>
          </a:ln>
        </p:spPr>
      </p:cxnSp>
      <p:cxnSp>
        <p:nvCxnSpPr>
          <p:cNvPr id="107" name="Google Shape;107;p6"/>
          <p:cNvCxnSpPr/>
          <p:nvPr/>
        </p:nvCxnSpPr>
        <p:spPr>
          <a:xfrm>
            <a:off x="1234440" y="5312664"/>
            <a:ext cx="0" cy="82296"/>
          </a:xfrm>
          <a:prstGeom prst="straightConnector1">
            <a:avLst/>
          </a:prstGeom>
          <a:noFill/>
          <a:ln cap="flat" cmpd="sng" w="13950">
            <a:solidFill>
              <a:srgbClr val="14213D"/>
            </a:solidFill>
            <a:prstDash val="solid"/>
            <a:round/>
            <a:headEnd len="sm" w="sm" type="none"/>
            <a:tailEnd len="med" w="med" type="triangle"/>
          </a:ln>
        </p:spPr>
      </p:cxnSp>
      <p:sp>
        <p:nvSpPr>
          <p:cNvPr id="108" name="Google Shape;108;p6"/>
          <p:cNvSpPr/>
          <p:nvPr/>
        </p:nvSpPr>
        <p:spPr>
          <a:xfrm>
            <a:off x="502920" y="5394960"/>
            <a:ext cx="1463040" cy="566928"/>
          </a:xfrm>
          <a:prstGeom prst="roundRect">
            <a:avLst>
              <a:gd fmla="val 9677" name="adj"/>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txBox="1"/>
          <p:nvPr/>
        </p:nvSpPr>
        <p:spPr>
          <a:xfrm>
            <a:off x="539496" y="5394960"/>
            <a:ext cx="138988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RSV-positive</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55/278 (19.8%)</a:t>
            </a:r>
            <a:endParaRPr b="0" i="0" sz="900" u="none" cap="none" strike="noStrike">
              <a:solidFill>
                <a:schemeClr val="dk1"/>
              </a:solidFill>
              <a:latin typeface="Calibri"/>
              <a:ea typeface="Calibri"/>
              <a:cs typeface="Calibri"/>
              <a:sym typeface="Calibri"/>
            </a:endParaRPr>
          </a:p>
        </p:txBody>
      </p:sp>
      <p:cxnSp>
        <p:nvCxnSpPr>
          <p:cNvPr id="110" name="Google Shape;110;p6"/>
          <p:cNvCxnSpPr/>
          <p:nvPr/>
        </p:nvCxnSpPr>
        <p:spPr>
          <a:xfrm>
            <a:off x="2880360" y="5312664"/>
            <a:ext cx="0" cy="82296"/>
          </a:xfrm>
          <a:prstGeom prst="straightConnector1">
            <a:avLst/>
          </a:prstGeom>
          <a:noFill/>
          <a:ln cap="flat" cmpd="sng" w="13950">
            <a:solidFill>
              <a:srgbClr val="14213D"/>
            </a:solidFill>
            <a:prstDash val="solid"/>
            <a:round/>
            <a:headEnd len="sm" w="sm" type="none"/>
            <a:tailEnd len="med" w="med" type="triangle"/>
          </a:ln>
        </p:spPr>
      </p:cxnSp>
      <p:sp>
        <p:nvSpPr>
          <p:cNvPr id="111" name="Google Shape;111;p6"/>
          <p:cNvSpPr/>
          <p:nvPr/>
        </p:nvSpPr>
        <p:spPr>
          <a:xfrm>
            <a:off x="2148840" y="5394960"/>
            <a:ext cx="1463040" cy="566928"/>
          </a:xfrm>
          <a:prstGeom prst="roundRect">
            <a:avLst>
              <a:gd fmla="val 9677" name="adj"/>
            </a:avLst>
          </a:prstGeom>
          <a:solidFill>
            <a:srgbClr val="E3E7EE"/>
          </a:solidFill>
          <a:ln cap="flat" cmpd="sng" w="12700">
            <a:solidFill>
              <a:srgbClr val="9AA5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txBox="1"/>
          <p:nvPr/>
        </p:nvSpPr>
        <p:spPr>
          <a:xfrm>
            <a:off x="2185416" y="5394960"/>
            <a:ext cx="138988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430"/>
              </a:buClr>
              <a:buSzPts val="900"/>
              <a:buFont typeface="Calibri"/>
              <a:buNone/>
            </a:pPr>
            <a:r>
              <a:rPr b="0" i="0" lang="en-US" sz="900" u="none" cap="none" strike="noStrike">
                <a:solidFill>
                  <a:srgbClr val="1B2430"/>
                </a:solidFill>
                <a:latin typeface="Calibri"/>
                <a:ea typeface="Calibri"/>
                <a:cs typeface="Calibri"/>
                <a:sym typeface="Calibri"/>
              </a:rPr>
              <a:t>RSV-negative</a:t>
            </a:r>
            <a:endParaRPr b="0"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430"/>
              </a:buClr>
              <a:buSzPts val="900"/>
              <a:buFont typeface="Calibri"/>
              <a:buNone/>
            </a:pPr>
            <a:r>
              <a:rPr b="0" i="0" lang="en-US" sz="900" u="none" cap="none" strike="noStrike">
                <a:solidFill>
                  <a:srgbClr val="1B2430"/>
                </a:solidFill>
                <a:latin typeface="Calibri"/>
                <a:ea typeface="Calibri"/>
                <a:cs typeface="Calibri"/>
                <a:sym typeface="Calibri"/>
              </a:rPr>
              <a:t>223/278 (80.2%)</a:t>
            </a:r>
            <a:endParaRPr b="0" i="0" sz="900" u="none" cap="none" strike="noStrike">
              <a:solidFill>
                <a:schemeClr val="dk1"/>
              </a:solidFill>
              <a:latin typeface="Calibri"/>
              <a:ea typeface="Calibri"/>
              <a:cs typeface="Calibri"/>
              <a:sym typeface="Calibri"/>
            </a:endParaRPr>
          </a:p>
        </p:txBody>
      </p:sp>
      <p:sp>
        <p:nvSpPr>
          <p:cNvPr id="113" name="Google Shape;113;p6"/>
          <p:cNvSpPr txBox="1"/>
          <p:nvPr/>
        </p:nvSpPr>
        <p:spPr>
          <a:xfrm>
            <a:off x="3703320" y="5413248"/>
            <a:ext cx="20574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850"/>
              <a:buFont typeface="Calibri"/>
              <a:buNone/>
            </a:pPr>
            <a:r>
              <a:rPr b="0" i="1" lang="en-US" sz="850" u="none" cap="none" strike="noStrike">
                <a:solidFill>
                  <a:srgbClr val="5B6573"/>
                </a:solidFill>
                <a:latin typeface="Calibri"/>
                <a:ea typeface="Calibri"/>
                <a:cs typeface="Calibri"/>
                <a:sym typeface="Calibri"/>
              </a:rPr>
              <a:t>Primary outcome: RSV RT-PCR result</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850"/>
              <a:buFont typeface="Calibri"/>
              <a:buNone/>
            </a:pPr>
            <a:r>
              <a:rPr b="0" i="1" lang="en-US" sz="850" u="none" cap="none" strike="noStrike">
                <a:solidFill>
                  <a:srgbClr val="5B6573"/>
                </a:solidFill>
                <a:latin typeface="Calibri"/>
                <a:ea typeface="Calibri"/>
                <a:cs typeface="Calibri"/>
                <a:sym typeface="Calibri"/>
              </a:rPr>
              <a:t>Heart failure in 18 of the 278 children</a:t>
            </a:r>
            <a:endParaRPr b="0" i="0" sz="850" u="none" cap="none" strike="noStrike">
              <a:solidFill>
                <a:schemeClr val="dk1"/>
              </a:solidFill>
              <a:latin typeface="Calibri"/>
              <a:ea typeface="Calibri"/>
              <a:cs typeface="Calibri"/>
              <a:sym typeface="Calibri"/>
            </a:endParaRPr>
          </a:p>
        </p:txBody>
      </p:sp>
      <p:sp>
        <p:nvSpPr>
          <p:cNvPr id="114" name="Google Shape;114;p6"/>
          <p:cNvSpPr/>
          <p:nvPr/>
        </p:nvSpPr>
        <p:spPr>
          <a:xfrm>
            <a:off x="5943600" y="1325880"/>
            <a:ext cx="594360" cy="594360"/>
          </a:xfrm>
          <a:prstGeom prst="ellipse">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 name="Google Shape;115;p6"/>
          <p:cNvPicPr preferRelativeResize="0"/>
          <p:nvPr/>
        </p:nvPicPr>
        <p:blipFill rotWithShape="1">
          <a:blip r:embed="rId3">
            <a:alphaModFix/>
          </a:blip>
          <a:srcRect b="0" l="0" r="0" t="0"/>
          <a:stretch/>
        </p:blipFill>
        <p:spPr>
          <a:xfrm>
            <a:off x="6074359" y="1456639"/>
            <a:ext cx="332842" cy="332842"/>
          </a:xfrm>
          <a:prstGeom prst="rect">
            <a:avLst/>
          </a:prstGeom>
          <a:noFill/>
          <a:ln>
            <a:noFill/>
          </a:ln>
        </p:spPr>
      </p:pic>
      <p:sp>
        <p:nvSpPr>
          <p:cNvPr id="116" name="Google Shape;116;p6"/>
          <p:cNvSpPr txBox="1"/>
          <p:nvPr/>
        </p:nvSpPr>
        <p:spPr>
          <a:xfrm>
            <a:off x="6720840" y="1280160"/>
            <a:ext cx="493776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Eligibility</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300"/>
              <a:buFont typeface="Calibri"/>
              <a:buNone/>
            </a:pPr>
            <a:r>
              <a:rPr b="0" i="0" lang="en-US" sz="1300" u="none" cap="none" strike="noStrike">
                <a:solidFill>
                  <a:srgbClr val="5B6573"/>
                </a:solidFill>
                <a:latin typeface="Calibri"/>
                <a:ea typeface="Calibri"/>
                <a:cs typeface="Calibri"/>
                <a:sym typeface="Calibri"/>
              </a:rPr>
              <a:t>Cardiac disease, aged 0–59 months (median 7 months, IQR 4–12), admitted with SARI, RSV RT-PCR result available</a:t>
            </a:r>
            <a:endParaRPr b="0" i="0" sz="1600" u="none" cap="none" strike="noStrike">
              <a:solidFill>
                <a:schemeClr val="dk1"/>
              </a:solidFill>
              <a:latin typeface="Calibri"/>
              <a:ea typeface="Calibri"/>
              <a:cs typeface="Calibri"/>
              <a:sym typeface="Calibri"/>
            </a:endParaRPr>
          </a:p>
        </p:txBody>
      </p:sp>
      <p:sp>
        <p:nvSpPr>
          <p:cNvPr id="117" name="Google Shape;117;p6"/>
          <p:cNvSpPr/>
          <p:nvPr/>
        </p:nvSpPr>
        <p:spPr>
          <a:xfrm>
            <a:off x="5943600" y="2606040"/>
            <a:ext cx="594360" cy="594360"/>
          </a:xfrm>
          <a:prstGeom prst="ellipse">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 name="Google Shape;118;p6"/>
          <p:cNvPicPr preferRelativeResize="0"/>
          <p:nvPr/>
        </p:nvPicPr>
        <p:blipFill rotWithShape="1">
          <a:blip r:embed="rId4">
            <a:alphaModFix/>
          </a:blip>
          <a:srcRect b="0" l="0" r="0" t="0"/>
          <a:stretch/>
        </p:blipFill>
        <p:spPr>
          <a:xfrm>
            <a:off x="6074359" y="2736799"/>
            <a:ext cx="332842" cy="332842"/>
          </a:xfrm>
          <a:prstGeom prst="rect">
            <a:avLst/>
          </a:prstGeom>
          <a:noFill/>
          <a:ln>
            <a:noFill/>
          </a:ln>
        </p:spPr>
      </p:pic>
      <p:sp>
        <p:nvSpPr>
          <p:cNvPr id="119" name="Google Shape;119;p6"/>
          <p:cNvSpPr txBox="1"/>
          <p:nvPr/>
        </p:nvSpPr>
        <p:spPr>
          <a:xfrm>
            <a:off x="6720840" y="2560320"/>
            <a:ext cx="493776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Sites and period</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300"/>
              <a:buFont typeface="Calibri"/>
              <a:buNone/>
            </a:pPr>
            <a:r>
              <a:rPr b="0" i="0" lang="en-US" sz="1300" u="none" cap="none" strike="noStrike">
                <a:solidFill>
                  <a:srgbClr val="5B6573"/>
                </a:solidFill>
                <a:latin typeface="Calibri"/>
                <a:ea typeface="Calibri"/>
                <a:cs typeface="Calibri"/>
                <a:sym typeface="Calibri"/>
              </a:rPr>
              <a:t>Kenyatta National, Mombasa, Siaya and Nyeri; January 2024 – July 2026</a:t>
            </a:r>
            <a:endParaRPr b="0" i="0" sz="1600" u="none" cap="none" strike="noStrike">
              <a:solidFill>
                <a:schemeClr val="dk1"/>
              </a:solidFill>
              <a:latin typeface="Calibri"/>
              <a:ea typeface="Calibri"/>
              <a:cs typeface="Calibri"/>
              <a:sym typeface="Calibri"/>
            </a:endParaRPr>
          </a:p>
        </p:txBody>
      </p:sp>
      <p:sp>
        <p:nvSpPr>
          <p:cNvPr id="120" name="Google Shape;120;p6"/>
          <p:cNvSpPr/>
          <p:nvPr/>
        </p:nvSpPr>
        <p:spPr>
          <a:xfrm>
            <a:off x="5943600" y="3886200"/>
            <a:ext cx="594360" cy="594360"/>
          </a:xfrm>
          <a:prstGeom prst="ellipse">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 name="Google Shape;121;p6"/>
          <p:cNvPicPr preferRelativeResize="0"/>
          <p:nvPr/>
        </p:nvPicPr>
        <p:blipFill rotWithShape="1">
          <a:blip r:embed="rId5">
            <a:alphaModFix/>
          </a:blip>
          <a:srcRect b="0" l="0" r="0" t="0"/>
          <a:stretch/>
        </p:blipFill>
        <p:spPr>
          <a:xfrm>
            <a:off x="6074359" y="4016959"/>
            <a:ext cx="332842" cy="332842"/>
          </a:xfrm>
          <a:prstGeom prst="rect">
            <a:avLst/>
          </a:prstGeom>
          <a:noFill/>
          <a:ln>
            <a:noFill/>
          </a:ln>
        </p:spPr>
      </p:pic>
      <p:sp>
        <p:nvSpPr>
          <p:cNvPr id="122" name="Google Shape;122;p6"/>
          <p:cNvSpPr txBox="1"/>
          <p:nvPr/>
        </p:nvSpPr>
        <p:spPr>
          <a:xfrm>
            <a:off x="6720840" y="3840480"/>
            <a:ext cx="493776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Cardiac disease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300"/>
              <a:buFont typeface="Calibri"/>
              <a:buNone/>
            </a:pPr>
            <a:r>
              <a:rPr b="0" i="0" lang="en-US" sz="1300" u="none" cap="none" strike="noStrike">
                <a:solidFill>
                  <a:srgbClr val="5B6573"/>
                </a:solidFill>
                <a:latin typeface="Calibri"/>
                <a:ea typeface="Calibri"/>
                <a:cs typeface="Calibri"/>
                <a:sym typeface="Calibri"/>
              </a:rPr>
              <a:t>Chronic cardiac disease at enrolment or discharge, or a cardiac diagnosis in the notes (congenital, rheumatic, cardiomyopathy, CCF)</a:t>
            </a:r>
            <a:endParaRPr b="0" i="0" sz="1600" u="none" cap="none" strike="noStrike">
              <a:solidFill>
                <a:schemeClr val="dk1"/>
              </a:solidFill>
              <a:latin typeface="Calibri"/>
              <a:ea typeface="Calibri"/>
              <a:cs typeface="Calibri"/>
              <a:sym typeface="Calibri"/>
            </a:endParaRPr>
          </a:p>
        </p:txBody>
      </p:sp>
      <p:sp>
        <p:nvSpPr>
          <p:cNvPr id="123" name="Google Shape;123;p6"/>
          <p:cNvSpPr/>
          <p:nvPr/>
        </p:nvSpPr>
        <p:spPr>
          <a:xfrm>
            <a:off x="5943600" y="5166360"/>
            <a:ext cx="594360" cy="594360"/>
          </a:xfrm>
          <a:prstGeom prst="ellipse">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 name="Google Shape;124;p6"/>
          <p:cNvPicPr preferRelativeResize="0"/>
          <p:nvPr/>
        </p:nvPicPr>
        <p:blipFill rotWithShape="1">
          <a:blip r:embed="rId6">
            <a:alphaModFix/>
          </a:blip>
          <a:srcRect b="0" l="0" r="0" t="0"/>
          <a:stretch/>
        </p:blipFill>
        <p:spPr>
          <a:xfrm>
            <a:off x="6074359" y="5297119"/>
            <a:ext cx="332842" cy="332842"/>
          </a:xfrm>
          <a:prstGeom prst="rect">
            <a:avLst/>
          </a:prstGeom>
          <a:noFill/>
          <a:ln>
            <a:noFill/>
          </a:ln>
        </p:spPr>
      </p:pic>
      <p:sp>
        <p:nvSpPr>
          <p:cNvPr id="125" name="Google Shape;125;p6"/>
          <p:cNvSpPr txBox="1"/>
          <p:nvPr/>
        </p:nvSpPr>
        <p:spPr>
          <a:xfrm>
            <a:off x="6720840" y="5120640"/>
            <a:ext cx="493776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Analysis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573"/>
              </a:buClr>
              <a:buSzPts val="1300"/>
              <a:buFont typeface="Calibri"/>
              <a:buNone/>
            </a:pPr>
            <a:r>
              <a:rPr b="0" i="0" lang="en-US" sz="1300" u="none" cap="none" strike="noStrike">
                <a:solidFill>
                  <a:srgbClr val="5B6573"/>
                </a:solidFill>
                <a:latin typeface="Calibri"/>
                <a:ea typeface="Calibri"/>
                <a:cs typeface="Calibri"/>
                <a:sym typeface="Calibri"/>
              </a:rPr>
              <a:t>Bivariate screen (likelihood-ratio test), then logistic regression with RSV result as the dependent variable: variables with p &lt; 0.20 plus age and sex a priori</a:t>
            </a:r>
            <a:endParaRPr b="0" i="0" sz="1600" u="none" cap="none" strike="noStrike">
              <a:solidFill>
                <a:schemeClr val="dk1"/>
              </a:solidFill>
              <a:latin typeface="Calibri"/>
              <a:ea typeface="Calibri"/>
              <a:cs typeface="Calibri"/>
              <a:sym typeface="Calibri"/>
            </a:endParaRPr>
          </a:p>
        </p:txBody>
      </p:sp>
      <p:sp>
        <p:nvSpPr>
          <p:cNvPr id="126" name="Google Shape;126;p6"/>
          <p:cNvSpPr txBox="1"/>
          <p:nvPr/>
        </p:nvSpPr>
        <p:spPr>
          <a:xfrm>
            <a:off x="548640" y="6355080"/>
            <a:ext cx="11094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0" i="1" lang="en-US" sz="1000" u="none" cap="none" strike="noStrike">
                <a:solidFill>
                  <a:srgbClr val="5B6573"/>
                </a:solidFill>
                <a:latin typeface="Calibri"/>
                <a:ea typeface="Calibri"/>
                <a:cs typeface="Calibri"/>
                <a:sym typeface="Calibri"/>
              </a:rPr>
              <a:t>Figure 1. Participant flow; each box shows previous n − excluded = this n. Exclusions: 73 aged ≥5 years, 145 never admitted, 20 outpatient ILI, 23 from a small site, 3,088 without cardiac disease.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7"/>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RSV was found in 1 in 5 of these children — and the burden sits in the first year of life</a:t>
            </a:r>
            <a:endParaRPr b="0" i="0" sz="2900" u="none" cap="none" strike="noStrike">
              <a:solidFill>
                <a:schemeClr val="dk1"/>
              </a:solidFill>
              <a:latin typeface="Calibri"/>
              <a:ea typeface="Calibri"/>
              <a:cs typeface="Calibri"/>
              <a:sym typeface="Calibri"/>
            </a:endParaRPr>
          </a:p>
        </p:txBody>
      </p:sp>
      <p:pic>
        <p:nvPicPr>
          <p:cNvPr id="133" name="Google Shape;133;p7"/>
          <p:cNvPicPr preferRelativeResize="0"/>
          <p:nvPr/>
        </p:nvPicPr>
        <p:blipFill rotWithShape="1">
          <a:blip r:embed="rId3">
            <a:alphaModFix/>
          </a:blip>
          <a:srcRect b="0" l="0" r="0" t="0"/>
          <a:stretch/>
        </p:blipFill>
        <p:spPr>
          <a:xfrm>
            <a:off x="365760" y="1554480"/>
            <a:ext cx="6949440" cy="4480560"/>
          </a:xfrm>
          <a:prstGeom prst="rect">
            <a:avLst/>
          </a:prstGeom>
          <a:noFill/>
          <a:ln>
            <a:noFill/>
          </a:ln>
        </p:spPr>
      </p:pic>
      <p:sp>
        <p:nvSpPr>
          <p:cNvPr id="134" name="Google Shape;134;p7"/>
          <p:cNvSpPr/>
          <p:nvPr/>
        </p:nvSpPr>
        <p:spPr>
          <a:xfrm>
            <a:off x="7680960" y="1737360"/>
            <a:ext cx="3931920" cy="4023360"/>
          </a:xfrm>
          <a:prstGeom prst="roundRect">
            <a:avLst>
              <a:gd fmla="val 2791"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txBox="1"/>
          <p:nvPr/>
        </p:nvSpPr>
        <p:spPr>
          <a:xfrm>
            <a:off x="8001000" y="1920240"/>
            <a:ext cx="32918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5800"/>
              <a:buFont typeface="Cambria"/>
              <a:buNone/>
            </a:pPr>
            <a:r>
              <a:rPr b="1" i="0" lang="en-US" sz="5800" u="none" cap="none" strike="noStrike">
                <a:solidFill>
                  <a:srgbClr val="C8102E"/>
                </a:solidFill>
                <a:latin typeface="Cambria"/>
                <a:ea typeface="Cambria"/>
                <a:cs typeface="Cambria"/>
                <a:sym typeface="Cambria"/>
              </a:rPr>
              <a:t>19.8%</a:t>
            </a:r>
            <a:endParaRPr b="0" i="0" sz="5800" u="none" cap="none" strike="noStrike">
              <a:solidFill>
                <a:schemeClr val="dk1"/>
              </a:solidFill>
              <a:latin typeface="Calibri"/>
              <a:ea typeface="Calibri"/>
              <a:cs typeface="Calibri"/>
              <a:sym typeface="Calibri"/>
            </a:endParaRPr>
          </a:p>
        </p:txBody>
      </p:sp>
      <p:sp>
        <p:nvSpPr>
          <p:cNvPr id="136" name="Google Shape;136;p7"/>
          <p:cNvSpPr txBox="1"/>
          <p:nvPr/>
        </p:nvSpPr>
        <p:spPr>
          <a:xfrm>
            <a:off x="8001000" y="2926080"/>
            <a:ext cx="32918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0" i="0" lang="en-US" sz="1600" u="none" cap="none" strike="noStrike">
                <a:solidFill>
                  <a:srgbClr val="1B2430"/>
                </a:solidFill>
                <a:latin typeface="Calibri"/>
                <a:ea typeface="Calibri"/>
                <a:cs typeface="Calibri"/>
                <a:sym typeface="Calibri"/>
              </a:rPr>
              <a:t>of children with cardiac disease tested positive (55/278; 95% CI 15.5–24.9)</a:t>
            </a:r>
            <a:endParaRPr b="0" i="0" sz="1600" u="none" cap="none" strike="noStrike">
              <a:solidFill>
                <a:schemeClr val="dk1"/>
              </a:solidFill>
              <a:latin typeface="Calibri"/>
              <a:ea typeface="Calibri"/>
              <a:cs typeface="Calibri"/>
              <a:sym typeface="Calibri"/>
            </a:endParaRPr>
          </a:p>
        </p:txBody>
      </p:sp>
      <p:sp>
        <p:nvSpPr>
          <p:cNvPr id="137" name="Google Shape;137;p7"/>
          <p:cNvSpPr/>
          <p:nvPr/>
        </p:nvSpPr>
        <p:spPr>
          <a:xfrm>
            <a:off x="8001000" y="4023360"/>
            <a:ext cx="594360" cy="59436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7"/>
          <p:cNvPicPr preferRelativeResize="0"/>
          <p:nvPr/>
        </p:nvPicPr>
        <p:blipFill rotWithShape="1">
          <a:blip r:embed="rId4">
            <a:alphaModFix/>
          </a:blip>
          <a:srcRect b="0" l="0" r="0" t="0"/>
          <a:stretch/>
        </p:blipFill>
        <p:spPr>
          <a:xfrm>
            <a:off x="8131759" y="4154119"/>
            <a:ext cx="332842" cy="332842"/>
          </a:xfrm>
          <a:prstGeom prst="rect">
            <a:avLst/>
          </a:prstGeom>
          <a:noFill/>
          <a:ln>
            <a:noFill/>
          </a:ln>
        </p:spPr>
      </p:pic>
      <p:sp>
        <p:nvSpPr>
          <p:cNvPr id="139" name="Google Shape;139;p7"/>
          <p:cNvSpPr txBox="1"/>
          <p:nvPr/>
        </p:nvSpPr>
        <p:spPr>
          <a:xfrm>
            <a:off x="8732520" y="3931920"/>
            <a:ext cx="265176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400"/>
              <a:buFont typeface="Calibri"/>
              <a:buNone/>
            </a:pPr>
            <a:r>
              <a:rPr b="0" i="0" lang="en-US" sz="1400" u="none" cap="none" strike="noStrike">
                <a:solidFill>
                  <a:srgbClr val="5B6573"/>
                </a:solidFill>
                <a:latin typeface="Calibri"/>
                <a:ea typeface="Calibri"/>
                <a:cs typeface="Calibri"/>
                <a:sym typeface="Calibri"/>
              </a:rPr>
              <a:t>Infants under 12 months: 47/211 positive (22.3%), against 8/67 (11.9%) at 12 months and over.</a:t>
            </a:r>
            <a:endParaRPr b="0" i="0" sz="1400" u="none" cap="none" strike="noStrike">
              <a:solidFill>
                <a:schemeClr val="dk1"/>
              </a:solidFill>
              <a:latin typeface="Calibri"/>
              <a:ea typeface="Calibri"/>
              <a:cs typeface="Calibri"/>
              <a:sym typeface="Calibri"/>
            </a:endParaRPr>
          </a:p>
        </p:txBody>
      </p:sp>
      <p:sp>
        <p:nvSpPr>
          <p:cNvPr id="140" name="Google Shape;140;p7"/>
          <p:cNvSpPr txBox="1"/>
          <p:nvPr/>
        </p:nvSpPr>
        <p:spPr>
          <a:xfrm>
            <a:off x="548640" y="6355080"/>
            <a:ext cx="11094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0" i="1" lang="en-US" sz="1000" u="none" cap="none" strike="noStrike">
                <a:solidFill>
                  <a:srgbClr val="5B6573"/>
                </a:solidFill>
                <a:latin typeface="Calibri"/>
                <a:ea typeface="Calibri"/>
                <a:cs typeface="Calibri"/>
                <a:sym typeface="Calibri"/>
              </a:rPr>
              <a:t>Children aged 0–59 months with cardiac disease. 95% CI by the Wilson method. Subgroups with very few children (24–59 months, n = 3; Nyeri, Siaya) are in Table 2 with their wide intervals.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8"/>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What predicted a positive RSV test? Age — and only age</a:t>
            </a:r>
            <a:endParaRPr b="0" i="0" sz="2900" u="none" cap="none" strike="noStrike">
              <a:solidFill>
                <a:schemeClr val="dk1"/>
              </a:solidFill>
              <a:latin typeface="Calibri"/>
              <a:ea typeface="Calibri"/>
              <a:cs typeface="Calibri"/>
              <a:sym typeface="Calibri"/>
            </a:endParaRPr>
          </a:p>
        </p:txBody>
      </p:sp>
      <p:graphicFrame>
        <p:nvGraphicFramePr>
          <p:cNvPr id="147" name="Google Shape;147;p8"/>
          <p:cNvGraphicFramePr/>
          <p:nvPr/>
        </p:nvGraphicFramePr>
        <p:xfrm>
          <a:off x="457200" y="1463040"/>
          <a:ext cx="3000000" cy="3000000"/>
        </p:xfrm>
        <a:graphic>
          <a:graphicData uri="http://schemas.openxmlformats.org/drawingml/2006/table">
            <a:tbl>
              <a:tblPr>
                <a:noFill/>
                <a:tableStyleId>{D2E21370-4ECC-4F15-BEAC-5FF370D2806E}</a:tableStyleId>
              </a:tblPr>
              <a:tblGrid>
                <a:gridCol w="2834650"/>
                <a:gridCol w="1691650"/>
                <a:gridCol w="1051550"/>
                <a:gridCol w="1188725"/>
                <a:gridCol w="1097275"/>
              </a:tblGrid>
              <a:tr h="42977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Candidate predictor</a:t>
                      </a:r>
                      <a:endParaRPr sz="12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4213D"/>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Crude OR (95% CI)</a:t>
                      </a:r>
                      <a:endParaRPr sz="12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4213D"/>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Bivariate p</a:t>
                      </a:r>
                      <a:endParaRPr sz="12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4213D"/>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In model?</a:t>
                      </a:r>
                      <a:endParaRPr sz="12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4213D"/>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Adjusted OR (95% CI)</a:t>
                      </a:r>
                      <a:endParaRPr sz="12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4213D"/>
                    </a:solidFill>
                  </a:tcPr>
                </a:tc>
              </a:tr>
              <a:tr h="429775">
                <a:tc>
                  <a:txBody>
                    <a:bodyPr/>
                    <a:lstStyle/>
                    <a:p>
                      <a:pPr indent="0" lvl="0" marL="0" marR="0" rtl="0" algn="l">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Age group (whole variable)</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0.115</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Yes</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r>
              <a:tr h="429775">
                <a:tc>
                  <a:txBody>
                    <a:bodyPr/>
                    <a:lstStyle/>
                    <a:p>
                      <a:pPr indent="0" lvl="0" marL="0" marR="0" rtl="0" algn="l">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   6–11 months (vs &lt;6 months)</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0.89 (0.46–1.72)</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300"/>
                        <a:buFont typeface="Calibri"/>
                        <a:buNone/>
                      </a:pPr>
                      <a:r>
                        <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300"/>
                        <a:buFont typeface="Calibri"/>
                        <a:buNone/>
                      </a:pPr>
                      <a:r>
                        <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0.87 (0.45–1.68)</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   ≥12 months (vs &lt;6 months)</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0.43 (0.18–1.01)</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chemeClr val="dk1"/>
                        </a:buClr>
                        <a:buSzPts val="1300"/>
                        <a:buFont typeface="Calibri"/>
                        <a:buNone/>
                      </a:pPr>
                      <a:r>
                        <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chemeClr val="dk1"/>
                        </a:buClr>
                        <a:buSzPts val="1300"/>
                        <a:buFont typeface="Calibri"/>
                        <a:buNone/>
                      </a:pPr>
                      <a:r>
                        <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0.43 (0.18–1.02)</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r>
              <a:tr h="429775">
                <a:tc>
                  <a:txBody>
                    <a:bodyPr/>
                    <a:lstStyle/>
                    <a:p>
                      <a:pPr indent="0" lvl="0" marL="0" marR="0" rtl="0" algn="l">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Male sex (vs female)</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1.27 (0.69–2.31)</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0.441</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Yes (a priori)</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1.23 (0.67–2.26)</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Sentinel site (4 sites)</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0.922</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No</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r>
              <a:tr h="429775">
                <a:tc>
                  <a:txBody>
                    <a:bodyPr/>
                    <a:lstStyle/>
                    <a:p>
                      <a:pPr indent="0" lvl="0" marL="0" marR="0" rtl="0" algn="l">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Heart failure (vs other cardiac)</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0.76 (0.21–2.72)</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0.670</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No</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Malnutrition</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1.09 (0.57–2.10)</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0.798</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No</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4F6FA"/>
                    </a:solidFill>
                  </a:tcPr>
                </a:tc>
              </a:tr>
              <a:tr h="429775">
                <a:tc>
                  <a:txBody>
                    <a:bodyPr/>
                    <a:lstStyle/>
                    <a:p>
                      <a:pPr indent="0" lvl="0" marL="0" marR="0" rtl="0" algn="l">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Hospitalised in previous 12 months</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1.09 (0.60–1.97)</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0.784</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No</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430"/>
                        </a:buClr>
                        <a:buSzPts val="1300"/>
                        <a:buFont typeface="Calibri"/>
                        <a:buNone/>
                      </a:pPr>
                      <a:r>
                        <a:rPr lang="en-US" sz="1300" u="none" cap="none" strike="noStrike">
                          <a:solidFill>
                            <a:srgbClr val="1B2430"/>
                          </a:solidFill>
                          <a:latin typeface="Calibri"/>
                          <a:ea typeface="Calibri"/>
                          <a:cs typeface="Calibri"/>
                          <a:sym typeface="Calibri"/>
                        </a:rPr>
                        <a:t>—</a:t>
                      </a:r>
                      <a:endParaRPr sz="1300" u="none" cap="none" strike="noStrike">
                        <a:latin typeface="Calibri"/>
                        <a:ea typeface="Calibri"/>
                        <a:cs typeface="Calibri"/>
                        <a:sym typeface="Calibri"/>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148" name="Google Shape;148;p8"/>
          <p:cNvSpPr/>
          <p:nvPr/>
        </p:nvSpPr>
        <p:spPr>
          <a:xfrm>
            <a:off x="8503920" y="1463040"/>
            <a:ext cx="3200400" cy="4297680"/>
          </a:xfrm>
          <a:prstGeom prst="roundRect">
            <a:avLst>
              <a:gd fmla="val 3429" name="adj"/>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txBox="1"/>
          <p:nvPr/>
        </p:nvSpPr>
        <p:spPr>
          <a:xfrm>
            <a:off x="8778240" y="1691640"/>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7B2"/>
              </a:buClr>
              <a:buSzPts val="1200"/>
              <a:buFont typeface="Calibri"/>
              <a:buNone/>
            </a:pPr>
            <a:r>
              <a:rPr b="1" i="0" lang="en-US" sz="1200" u="none" cap="none" strike="noStrike">
                <a:solidFill>
                  <a:srgbClr val="F2A7B2"/>
                </a:solidFill>
                <a:latin typeface="Calibri"/>
                <a:ea typeface="Calibri"/>
                <a:cs typeface="Calibri"/>
                <a:sym typeface="Calibri"/>
              </a:rPr>
              <a:t>HOW VARIABLES WERE CHOSEN</a:t>
            </a:r>
            <a:endParaRPr b="0" i="0" sz="1200" u="none" cap="none" strike="noStrike">
              <a:solidFill>
                <a:schemeClr val="dk1"/>
              </a:solidFill>
              <a:latin typeface="Calibri"/>
              <a:ea typeface="Calibri"/>
              <a:cs typeface="Calibri"/>
              <a:sym typeface="Calibri"/>
            </a:endParaRPr>
          </a:p>
        </p:txBody>
      </p:sp>
      <p:sp>
        <p:nvSpPr>
          <p:cNvPr id="150" name="Google Shape;150;p8"/>
          <p:cNvSpPr txBox="1"/>
          <p:nvPr/>
        </p:nvSpPr>
        <p:spPr>
          <a:xfrm>
            <a:off x="8778240" y="2194560"/>
            <a:ext cx="2651760" cy="3383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Dependent variable: RSV result (positive = 1)</a:t>
            </a:r>
            <a:endParaRPr b="0" i="0" sz="13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Each candidate screened alone (likelihood-ratio test)</a:t>
            </a:r>
            <a:endParaRPr b="0" i="0" sz="13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Entered the model if p &lt; 0.20, plus age and sex a priori</a:t>
            </a:r>
            <a:endParaRPr b="0" i="0" sz="13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FFFFFF"/>
              </a:buClr>
              <a:buSzPts val="1350"/>
              <a:buFont typeface="Calibri"/>
              <a:buChar char="•"/>
            </a:pPr>
            <a:r>
              <a:rPr b="0" i="0" lang="en-US" sz="1350" u="none" cap="none" strike="noStrike">
                <a:solidFill>
                  <a:srgbClr val="FFFFFF"/>
                </a:solidFill>
                <a:latin typeface="Calibri"/>
                <a:ea typeface="Calibri"/>
                <a:cs typeface="Calibri"/>
                <a:sym typeface="Calibri"/>
              </a:rPr>
              <a:t>Final model: age group + sex; n = 267, 55 positive</a:t>
            </a:r>
            <a:endParaRPr b="0" i="0" sz="1350" u="none" cap="none" strike="noStrike">
              <a:solidFill>
                <a:schemeClr val="dk1"/>
              </a:solidFill>
              <a:latin typeface="Calibri"/>
              <a:ea typeface="Calibri"/>
              <a:cs typeface="Calibri"/>
              <a:sym typeface="Calibri"/>
            </a:endParaRPr>
          </a:p>
        </p:txBody>
      </p:sp>
      <p:sp>
        <p:nvSpPr>
          <p:cNvPr id="151" name="Google Shape;151;p8"/>
          <p:cNvSpPr txBox="1"/>
          <p:nvPr/>
        </p:nvSpPr>
        <p:spPr>
          <a:xfrm>
            <a:off x="548640" y="6355080"/>
            <a:ext cx="11094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0" i="1" lang="en-US" sz="1000" u="none" cap="none" strike="noStrike">
                <a:solidFill>
                  <a:srgbClr val="5B6573"/>
                </a:solidFill>
                <a:latin typeface="Calibri"/>
                <a:ea typeface="Calibri"/>
                <a:cs typeface="Calibri"/>
                <a:sym typeface="Calibri"/>
              </a:rPr>
              <a:t>Binary logistic regression among children with cardiac disease (Table 3). Reference categories: age &lt;6 months, female. Site, heart failure, malnutrition and prior hospitalisation did not reach p &lt; 0.20 and were not adjusted for. Children aged ≥12 months: aOR 0.43 (0.18–1.02; p = 0.055).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9"/>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Secondary: RSV-positive and RSV-negative admissions looked alike</a:t>
            </a:r>
            <a:endParaRPr b="0" i="0" sz="2900" u="none" cap="none" strike="noStrike">
              <a:solidFill>
                <a:schemeClr val="dk1"/>
              </a:solidFill>
              <a:latin typeface="Calibri"/>
              <a:ea typeface="Calibri"/>
              <a:cs typeface="Calibri"/>
              <a:sym typeface="Calibri"/>
            </a:endParaRPr>
          </a:p>
        </p:txBody>
      </p:sp>
      <p:pic>
        <p:nvPicPr>
          <p:cNvPr id="158" name="Google Shape;158;p9"/>
          <p:cNvPicPr preferRelativeResize="0"/>
          <p:nvPr/>
        </p:nvPicPr>
        <p:blipFill rotWithShape="1">
          <a:blip r:embed="rId3">
            <a:alphaModFix/>
          </a:blip>
          <a:srcRect b="0" l="0" r="0" t="0"/>
          <a:stretch/>
        </p:blipFill>
        <p:spPr>
          <a:xfrm>
            <a:off x="457200" y="1508760"/>
            <a:ext cx="7223760" cy="4572000"/>
          </a:xfrm>
          <a:prstGeom prst="rect">
            <a:avLst/>
          </a:prstGeom>
          <a:noFill/>
          <a:ln>
            <a:noFill/>
          </a:ln>
        </p:spPr>
      </p:pic>
      <p:sp>
        <p:nvSpPr>
          <p:cNvPr id="159" name="Google Shape;159;p9"/>
          <p:cNvSpPr/>
          <p:nvPr/>
        </p:nvSpPr>
        <p:spPr>
          <a:xfrm>
            <a:off x="8046720" y="1645920"/>
            <a:ext cx="3566160" cy="4206240"/>
          </a:xfrm>
          <a:prstGeom prst="roundRect">
            <a:avLst>
              <a:gd fmla="val 3077"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txBox="1"/>
          <p:nvPr/>
        </p:nvSpPr>
        <p:spPr>
          <a:xfrm>
            <a:off x="8321040" y="1828800"/>
            <a:ext cx="3108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400"/>
              <a:buFont typeface="Calibri"/>
              <a:buNone/>
            </a:pPr>
            <a:r>
              <a:rPr b="1" i="0" lang="en-US" sz="1400" u="none" cap="none" strike="noStrike">
                <a:solidFill>
                  <a:srgbClr val="5B6573"/>
                </a:solidFill>
                <a:latin typeface="Calibri"/>
                <a:ea typeface="Calibri"/>
                <a:cs typeface="Calibri"/>
                <a:sym typeface="Calibri"/>
              </a:rPr>
              <a:t>Adjusted OR, RSV-positive vs RSV-negative</a:t>
            </a:r>
            <a:endParaRPr b="0" i="0" sz="1400" u="none" cap="none" strike="noStrike">
              <a:solidFill>
                <a:schemeClr val="dk1"/>
              </a:solidFill>
              <a:latin typeface="Calibri"/>
              <a:ea typeface="Calibri"/>
              <a:cs typeface="Calibri"/>
              <a:sym typeface="Calibri"/>
            </a:endParaRPr>
          </a:p>
        </p:txBody>
      </p:sp>
      <p:sp>
        <p:nvSpPr>
          <p:cNvPr id="161" name="Google Shape;161;p9"/>
          <p:cNvSpPr txBox="1"/>
          <p:nvPr/>
        </p:nvSpPr>
        <p:spPr>
          <a:xfrm>
            <a:off x="8321040" y="2468880"/>
            <a:ext cx="3108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Any severe marker</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430"/>
              </a:buClr>
              <a:buSzPts val="1500"/>
              <a:buFont typeface="Calibri"/>
              <a:buNone/>
            </a:pPr>
            <a:r>
              <a:rPr b="0" i="0" lang="en-US" sz="1500" u="none" cap="none" strike="noStrike">
                <a:solidFill>
                  <a:srgbClr val="1B2430"/>
                </a:solidFill>
                <a:latin typeface="Calibri"/>
                <a:ea typeface="Calibri"/>
                <a:cs typeface="Calibri"/>
                <a:sym typeface="Calibri"/>
              </a:rPr>
              <a:t>1.05 (0.57–1.91)</a:t>
            </a:r>
            <a:endParaRPr b="0" i="0" sz="1600" u="none" cap="none" strike="noStrike">
              <a:solidFill>
                <a:schemeClr val="dk1"/>
              </a:solidFill>
              <a:latin typeface="Calibri"/>
              <a:ea typeface="Calibri"/>
              <a:cs typeface="Calibri"/>
              <a:sym typeface="Calibri"/>
            </a:endParaRPr>
          </a:p>
        </p:txBody>
      </p:sp>
      <p:sp>
        <p:nvSpPr>
          <p:cNvPr id="162" name="Google Shape;162;p9"/>
          <p:cNvSpPr txBox="1"/>
          <p:nvPr/>
        </p:nvSpPr>
        <p:spPr>
          <a:xfrm>
            <a:off x="8321040" y="3291840"/>
            <a:ext cx="3108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ICU / acute care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430"/>
              </a:buClr>
              <a:buSzPts val="1500"/>
              <a:buFont typeface="Calibri"/>
              <a:buNone/>
            </a:pPr>
            <a:r>
              <a:rPr b="0" i="0" lang="en-US" sz="1500" u="none" cap="none" strike="noStrike">
                <a:solidFill>
                  <a:srgbClr val="1B2430"/>
                </a:solidFill>
                <a:latin typeface="Calibri"/>
                <a:ea typeface="Calibri"/>
                <a:cs typeface="Calibri"/>
                <a:sym typeface="Calibri"/>
              </a:rPr>
              <a:t>1.10 (0.60–2.03)</a:t>
            </a:r>
            <a:endParaRPr b="0" i="0" sz="1600" u="none" cap="none" strike="noStrike">
              <a:solidFill>
                <a:schemeClr val="dk1"/>
              </a:solidFill>
              <a:latin typeface="Calibri"/>
              <a:ea typeface="Calibri"/>
              <a:cs typeface="Calibri"/>
              <a:sym typeface="Calibri"/>
            </a:endParaRPr>
          </a:p>
        </p:txBody>
      </p:sp>
      <p:sp>
        <p:nvSpPr>
          <p:cNvPr id="163" name="Google Shape;163;p9"/>
          <p:cNvSpPr txBox="1"/>
          <p:nvPr/>
        </p:nvSpPr>
        <p:spPr>
          <a:xfrm>
            <a:off x="8321040" y="4114800"/>
            <a:ext cx="3108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Death</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430"/>
              </a:buClr>
              <a:buSzPts val="1500"/>
              <a:buFont typeface="Calibri"/>
              <a:buNone/>
            </a:pPr>
            <a:r>
              <a:rPr b="0" i="0" lang="en-US" sz="1500" u="none" cap="none" strike="noStrike">
                <a:solidFill>
                  <a:srgbClr val="1B2430"/>
                </a:solidFill>
                <a:latin typeface="Calibri"/>
                <a:ea typeface="Calibri"/>
                <a:cs typeface="Calibri"/>
                <a:sym typeface="Calibri"/>
              </a:rPr>
              <a:t>0.69 (0.27–1.76)</a:t>
            </a:r>
            <a:endParaRPr b="0" i="0" sz="1600" u="none" cap="none" strike="noStrike">
              <a:solidFill>
                <a:schemeClr val="dk1"/>
              </a:solidFill>
              <a:latin typeface="Calibri"/>
              <a:ea typeface="Calibri"/>
              <a:cs typeface="Calibri"/>
              <a:sym typeface="Calibri"/>
            </a:endParaRPr>
          </a:p>
        </p:txBody>
      </p:sp>
      <p:sp>
        <p:nvSpPr>
          <p:cNvPr id="164" name="Google Shape;164;p9"/>
          <p:cNvSpPr txBox="1"/>
          <p:nvPr/>
        </p:nvSpPr>
        <p:spPr>
          <a:xfrm>
            <a:off x="8321040" y="4937760"/>
            <a:ext cx="31089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600"/>
              <a:buFont typeface="Calibri"/>
              <a:buNone/>
            </a:pPr>
            <a:r>
              <a:rPr b="1" i="0" lang="en-US" sz="1600" u="none" cap="none" strike="noStrike">
                <a:solidFill>
                  <a:srgbClr val="1B2430"/>
                </a:solidFill>
                <a:latin typeface="Calibri"/>
                <a:ea typeface="Calibri"/>
                <a:cs typeface="Calibri"/>
                <a:sym typeface="Calibri"/>
              </a:rPr>
              <a:t>Median stay</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B2430"/>
              </a:buClr>
              <a:buSzPts val="1500"/>
              <a:buFont typeface="Calibri"/>
              <a:buNone/>
            </a:pPr>
            <a:r>
              <a:rPr b="0" i="0" lang="en-US" sz="1500" u="none" cap="none" strike="noStrike">
                <a:solidFill>
                  <a:srgbClr val="1B2430"/>
                </a:solidFill>
                <a:latin typeface="Calibri"/>
                <a:ea typeface="Calibri"/>
                <a:cs typeface="Calibri"/>
                <a:sym typeface="Calibri"/>
              </a:rPr>
              <a:t>14 vs 15 days (+1; −3 to +3)</a:t>
            </a:r>
            <a:endParaRPr b="0" i="0" sz="1600" u="none" cap="none" strike="noStrike">
              <a:solidFill>
                <a:schemeClr val="dk1"/>
              </a:solidFill>
              <a:latin typeface="Calibri"/>
              <a:ea typeface="Calibri"/>
              <a:cs typeface="Calibri"/>
              <a:sym typeface="Calibri"/>
            </a:endParaRPr>
          </a:p>
        </p:txBody>
      </p:sp>
      <p:sp>
        <p:nvSpPr>
          <p:cNvPr id="165" name="Google Shape;165;p9"/>
          <p:cNvSpPr txBox="1"/>
          <p:nvPr/>
        </p:nvSpPr>
        <p:spPr>
          <a:xfrm>
            <a:off x="548640" y="6355080"/>
            <a:ext cx="11094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0" i="1" lang="en-US" sz="1000" u="none" cap="none" strike="noStrike">
                <a:solidFill>
                  <a:srgbClr val="5B6573"/>
                </a:solidFill>
                <a:latin typeface="Calibri"/>
                <a:ea typeface="Calibri"/>
                <a:cs typeface="Calibri"/>
                <a:sym typeface="Calibri"/>
              </a:rPr>
              <a:t>Roles reversed: RSV is the exposure, the admission is the outcome. All met the SARI definition, so ‡ these markers (SpO₂ &lt;90%, ICU/acute care, ventilation or death) grade severity within an already-severe group. Adjusted for age group and sex; denominators vary (n = 55 and 222–223).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0"/>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Each RSV admission kept a child with cardiac disease in hospital for about two weeks</a:t>
            </a:r>
            <a:endParaRPr b="0" i="0" sz="2900" u="none" cap="none" strike="noStrike">
              <a:solidFill>
                <a:schemeClr val="dk1"/>
              </a:solidFill>
              <a:latin typeface="Calibri"/>
              <a:ea typeface="Calibri"/>
              <a:cs typeface="Calibri"/>
              <a:sym typeface="Calibri"/>
            </a:endParaRPr>
          </a:p>
        </p:txBody>
      </p:sp>
      <p:sp>
        <p:nvSpPr>
          <p:cNvPr id="172" name="Google Shape;172;p10"/>
          <p:cNvSpPr/>
          <p:nvPr/>
        </p:nvSpPr>
        <p:spPr>
          <a:xfrm>
            <a:off x="548640" y="1645920"/>
            <a:ext cx="5394960" cy="1965960"/>
          </a:xfrm>
          <a:prstGeom prst="roundRect">
            <a:avLst>
              <a:gd fmla="val 5581"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p:nvPr/>
        </p:nvSpPr>
        <p:spPr>
          <a:xfrm>
            <a:off x="868680" y="2240280"/>
            <a:ext cx="777240" cy="7772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4" name="Google Shape;174;p10"/>
          <p:cNvPicPr preferRelativeResize="0"/>
          <p:nvPr/>
        </p:nvPicPr>
        <p:blipFill rotWithShape="1">
          <a:blip r:embed="rId3">
            <a:alphaModFix/>
          </a:blip>
          <a:srcRect b="0" l="0" r="0" t="0"/>
          <a:stretch/>
        </p:blipFill>
        <p:spPr>
          <a:xfrm>
            <a:off x="1039673" y="2411273"/>
            <a:ext cx="435254" cy="435254"/>
          </a:xfrm>
          <a:prstGeom prst="rect">
            <a:avLst/>
          </a:prstGeom>
          <a:noFill/>
          <a:ln>
            <a:noFill/>
          </a:ln>
        </p:spPr>
      </p:pic>
      <p:sp>
        <p:nvSpPr>
          <p:cNvPr id="175" name="Google Shape;175;p10"/>
          <p:cNvSpPr txBox="1"/>
          <p:nvPr/>
        </p:nvSpPr>
        <p:spPr>
          <a:xfrm>
            <a:off x="1920240" y="1920240"/>
            <a:ext cx="37490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4200"/>
              <a:buFont typeface="Cambria"/>
              <a:buNone/>
            </a:pPr>
            <a:r>
              <a:rPr b="1" i="0" lang="en-US" sz="4200" u="none" cap="none" strike="noStrike">
                <a:solidFill>
                  <a:srgbClr val="C8102E"/>
                </a:solidFill>
                <a:latin typeface="Cambria"/>
                <a:ea typeface="Cambria"/>
                <a:cs typeface="Cambria"/>
                <a:sym typeface="Cambria"/>
              </a:rPr>
              <a:t>1,201</a:t>
            </a:r>
            <a:endParaRPr b="0" i="0" sz="4200" u="none" cap="none" strike="noStrike">
              <a:solidFill>
                <a:schemeClr val="dk1"/>
              </a:solidFill>
              <a:latin typeface="Calibri"/>
              <a:ea typeface="Calibri"/>
              <a:cs typeface="Calibri"/>
              <a:sym typeface="Calibri"/>
            </a:endParaRPr>
          </a:p>
        </p:txBody>
      </p:sp>
      <p:sp>
        <p:nvSpPr>
          <p:cNvPr id="176" name="Google Shape;176;p10"/>
          <p:cNvSpPr txBox="1"/>
          <p:nvPr/>
        </p:nvSpPr>
        <p:spPr>
          <a:xfrm>
            <a:off x="1920240" y="2788920"/>
            <a:ext cx="3749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500"/>
              <a:buFont typeface="Calibri"/>
              <a:buNone/>
            </a:pPr>
            <a:r>
              <a:rPr b="0" i="0" lang="en-US" sz="1500" u="none" cap="none" strike="noStrike">
                <a:solidFill>
                  <a:srgbClr val="1B2430"/>
                </a:solidFill>
                <a:latin typeface="Calibri"/>
                <a:ea typeface="Calibri"/>
                <a:cs typeface="Calibri"/>
                <a:sym typeface="Calibri"/>
              </a:rPr>
              <a:t>hospital bed-days used by the 55 RSV-positive admissions</a:t>
            </a:r>
            <a:endParaRPr b="0" i="0" sz="1500" u="none" cap="none" strike="noStrike">
              <a:solidFill>
                <a:schemeClr val="dk1"/>
              </a:solidFill>
              <a:latin typeface="Calibri"/>
              <a:ea typeface="Calibri"/>
              <a:cs typeface="Calibri"/>
              <a:sym typeface="Calibri"/>
            </a:endParaRPr>
          </a:p>
        </p:txBody>
      </p:sp>
      <p:sp>
        <p:nvSpPr>
          <p:cNvPr id="177" name="Google Shape;177;p10"/>
          <p:cNvSpPr/>
          <p:nvPr/>
        </p:nvSpPr>
        <p:spPr>
          <a:xfrm>
            <a:off x="6172200" y="1645920"/>
            <a:ext cx="5394960" cy="1965960"/>
          </a:xfrm>
          <a:prstGeom prst="roundRect">
            <a:avLst>
              <a:gd fmla="val 5581"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6492240" y="2240280"/>
            <a:ext cx="777240" cy="7772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9" name="Google Shape;179;p10"/>
          <p:cNvPicPr preferRelativeResize="0"/>
          <p:nvPr/>
        </p:nvPicPr>
        <p:blipFill rotWithShape="1">
          <a:blip r:embed="rId4">
            <a:alphaModFix/>
          </a:blip>
          <a:srcRect b="0" l="0" r="0" t="0"/>
          <a:stretch/>
        </p:blipFill>
        <p:spPr>
          <a:xfrm>
            <a:off x="6663233" y="2411273"/>
            <a:ext cx="435254" cy="435254"/>
          </a:xfrm>
          <a:prstGeom prst="rect">
            <a:avLst/>
          </a:prstGeom>
          <a:noFill/>
          <a:ln>
            <a:noFill/>
          </a:ln>
        </p:spPr>
      </p:pic>
      <p:sp>
        <p:nvSpPr>
          <p:cNvPr id="180" name="Google Shape;180;p10"/>
          <p:cNvSpPr txBox="1"/>
          <p:nvPr/>
        </p:nvSpPr>
        <p:spPr>
          <a:xfrm>
            <a:off x="7543800" y="1920240"/>
            <a:ext cx="37490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4200"/>
              <a:buFont typeface="Cambria"/>
              <a:buNone/>
            </a:pPr>
            <a:r>
              <a:rPr b="1" i="0" lang="en-US" sz="4200" u="none" cap="none" strike="noStrike">
                <a:solidFill>
                  <a:srgbClr val="C8102E"/>
                </a:solidFill>
                <a:latin typeface="Cambria"/>
                <a:ea typeface="Cambria"/>
                <a:cs typeface="Cambria"/>
                <a:sym typeface="Cambria"/>
              </a:rPr>
              <a:t>14</a:t>
            </a:r>
            <a:endParaRPr b="0" i="0" sz="4200" u="none" cap="none" strike="noStrike">
              <a:solidFill>
                <a:schemeClr val="dk1"/>
              </a:solidFill>
              <a:latin typeface="Calibri"/>
              <a:ea typeface="Calibri"/>
              <a:cs typeface="Calibri"/>
              <a:sym typeface="Calibri"/>
            </a:endParaRPr>
          </a:p>
        </p:txBody>
      </p:sp>
      <p:sp>
        <p:nvSpPr>
          <p:cNvPr id="181" name="Google Shape;181;p10"/>
          <p:cNvSpPr txBox="1"/>
          <p:nvPr/>
        </p:nvSpPr>
        <p:spPr>
          <a:xfrm>
            <a:off x="7543800" y="2788920"/>
            <a:ext cx="3749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500"/>
              <a:buFont typeface="Calibri"/>
              <a:buNone/>
            </a:pPr>
            <a:r>
              <a:rPr b="0" i="0" lang="en-US" sz="1500" u="none" cap="none" strike="noStrike">
                <a:solidFill>
                  <a:srgbClr val="1B2430"/>
                </a:solidFill>
                <a:latin typeface="Calibri"/>
                <a:ea typeface="Calibri"/>
                <a:cs typeface="Calibri"/>
                <a:sym typeface="Calibri"/>
              </a:rPr>
              <a:t>median bed-days per admission (mean 22; a few very long stays)</a:t>
            </a:r>
            <a:endParaRPr b="0" i="0" sz="1500" u="none" cap="none" strike="noStrike">
              <a:solidFill>
                <a:schemeClr val="dk1"/>
              </a:solidFill>
              <a:latin typeface="Calibri"/>
              <a:ea typeface="Calibri"/>
              <a:cs typeface="Calibri"/>
              <a:sym typeface="Calibri"/>
            </a:endParaRPr>
          </a:p>
        </p:txBody>
      </p:sp>
      <p:sp>
        <p:nvSpPr>
          <p:cNvPr id="182" name="Google Shape;182;p10"/>
          <p:cNvSpPr/>
          <p:nvPr/>
        </p:nvSpPr>
        <p:spPr>
          <a:xfrm>
            <a:off x="548640" y="3886200"/>
            <a:ext cx="5394960" cy="1965960"/>
          </a:xfrm>
          <a:prstGeom prst="roundRect">
            <a:avLst>
              <a:gd fmla="val 5581"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868680" y="4480560"/>
            <a:ext cx="777240" cy="7772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4" name="Google Shape;184;p10"/>
          <p:cNvPicPr preferRelativeResize="0"/>
          <p:nvPr/>
        </p:nvPicPr>
        <p:blipFill rotWithShape="1">
          <a:blip r:embed="rId5">
            <a:alphaModFix/>
          </a:blip>
          <a:srcRect b="0" l="0" r="0" t="0"/>
          <a:stretch/>
        </p:blipFill>
        <p:spPr>
          <a:xfrm>
            <a:off x="1039673" y="4651553"/>
            <a:ext cx="435254" cy="435254"/>
          </a:xfrm>
          <a:prstGeom prst="rect">
            <a:avLst/>
          </a:prstGeom>
          <a:noFill/>
          <a:ln>
            <a:noFill/>
          </a:ln>
        </p:spPr>
      </p:pic>
      <p:sp>
        <p:nvSpPr>
          <p:cNvPr id="185" name="Google Shape;185;p10"/>
          <p:cNvSpPr txBox="1"/>
          <p:nvPr/>
        </p:nvSpPr>
        <p:spPr>
          <a:xfrm>
            <a:off x="1920240" y="4160520"/>
            <a:ext cx="37490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4200"/>
              <a:buFont typeface="Cambria"/>
              <a:buNone/>
            </a:pPr>
            <a:r>
              <a:rPr b="1" i="0" lang="en-US" sz="4200" u="none" cap="none" strike="noStrike">
                <a:solidFill>
                  <a:srgbClr val="C8102E"/>
                </a:solidFill>
                <a:latin typeface="Cambria"/>
                <a:ea typeface="Cambria"/>
                <a:cs typeface="Cambria"/>
                <a:sym typeface="Cambria"/>
              </a:rPr>
              <a:t>22/55</a:t>
            </a:r>
            <a:endParaRPr b="0" i="0" sz="4200" u="none" cap="none" strike="noStrike">
              <a:solidFill>
                <a:schemeClr val="dk1"/>
              </a:solidFill>
              <a:latin typeface="Calibri"/>
              <a:ea typeface="Calibri"/>
              <a:cs typeface="Calibri"/>
              <a:sym typeface="Calibri"/>
            </a:endParaRPr>
          </a:p>
        </p:txBody>
      </p:sp>
      <p:sp>
        <p:nvSpPr>
          <p:cNvPr id="186" name="Google Shape;186;p10"/>
          <p:cNvSpPr txBox="1"/>
          <p:nvPr/>
        </p:nvSpPr>
        <p:spPr>
          <a:xfrm>
            <a:off x="1920240" y="5029200"/>
            <a:ext cx="3749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500"/>
              <a:buFont typeface="Calibri"/>
              <a:buNone/>
            </a:pPr>
            <a:r>
              <a:rPr b="0" i="0" lang="en-US" sz="1500" u="none" cap="none" strike="noStrike">
                <a:solidFill>
                  <a:srgbClr val="1B2430"/>
                </a:solidFill>
                <a:latin typeface="Calibri"/>
                <a:ea typeface="Calibri"/>
                <a:cs typeface="Calibri"/>
                <a:sym typeface="Calibri"/>
              </a:rPr>
              <a:t>RSV-positive children admitted to ICU or acute care</a:t>
            </a:r>
            <a:endParaRPr b="0" i="0" sz="1500" u="none" cap="none" strike="noStrike">
              <a:solidFill>
                <a:schemeClr val="dk1"/>
              </a:solidFill>
              <a:latin typeface="Calibri"/>
              <a:ea typeface="Calibri"/>
              <a:cs typeface="Calibri"/>
              <a:sym typeface="Calibri"/>
            </a:endParaRPr>
          </a:p>
        </p:txBody>
      </p:sp>
      <p:sp>
        <p:nvSpPr>
          <p:cNvPr id="187" name="Google Shape;187;p10"/>
          <p:cNvSpPr/>
          <p:nvPr/>
        </p:nvSpPr>
        <p:spPr>
          <a:xfrm>
            <a:off x="6172200" y="3886200"/>
            <a:ext cx="5394960" cy="1965960"/>
          </a:xfrm>
          <a:prstGeom prst="roundRect">
            <a:avLst>
              <a:gd fmla="val 5581"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6492240" y="4480560"/>
            <a:ext cx="777240" cy="777240"/>
          </a:xfrm>
          <a:prstGeom prst="ellipse">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9" name="Google Shape;189;p10"/>
          <p:cNvPicPr preferRelativeResize="0"/>
          <p:nvPr/>
        </p:nvPicPr>
        <p:blipFill rotWithShape="1">
          <a:blip r:embed="rId6">
            <a:alphaModFix/>
          </a:blip>
          <a:srcRect b="0" l="0" r="0" t="0"/>
          <a:stretch/>
        </p:blipFill>
        <p:spPr>
          <a:xfrm>
            <a:off x="6663233" y="4651553"/>
            <a:ext cx="435254" cy="435254"/>
          </a:xfrm>
          <a:prstGeom prst="rect">
            <a:avLst/>
          </a:prstGeom>
          <a:noFill/>
          <a:ln>
            <a:noFill/>
          </a:ln>
        </p:spPr>
      </p:pic>
      <p:sp>
        <p:nvSpPr>
          <p:cNvPr id="190" name="Google Shape;190;p10"/>
          <p:cNvSpPr txBox="1"/>
          <p:nvPr/>
        </p:nvSpPr>
        <p:spPr>
          <a:xfrm>
            <a:off x="7543800" y="4160520"/>
            <a:ext cx="37490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4200"/>
              <a:buFont typeface="Cambria"/>
              <a:buNone/>
            </a:pPr>
            <a:r>
              <a:rPr b="1" i="0" lang="en-US" sz="4200" u="none" cap="none" strike="noStrike">
                <a:solidFill>
                  <a:srgbClr val="14213D"/>
                </a:solidFill>
                <a:latin typeface="Cambria"/>
                <a:ea typeface="Cambria"/>
                <a:cs typeface="Cambria"/>
                <a:sym typeface="Cambria"/>
              </a:rPr>
              <a:t>5,342</a:t>
            </a:r>
            <a:endParaRPr b="0" i="0" sz="4200" u="none" cap="none" strike="noStrike">
              <a:solidFill>
                <a:schemeClr val="dk1"/>
              </a:solidFill>
              <a:latin typeface="Calibri"/>
              <a:ea typeface="Calibri"/>
              <a:cs typeface="Calibri"/>
              <a:sym typeface="Calibri"/>
            </a:endParaRPr>
          </a:p>
        </p:txBody>
      </p:sp>
      <p:sp>
        <p:nvSpPr>
          <p:cNvPr id="191" name="Google Shape;191;p10"/>
          <p:cNvSpPr txBox="1"/>
          <p:nvPr/>
        </p:nvSpPr>
        <p:spPr>
          <a:xfrm>
            <a:off x="7543800" y="5029200"/>
            <a:ext cx="374904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1500"/>
              <a:buFont typeface="Calibri"/>
              <a:buNone/>
            </a:pPr>
            <a:r>
              <a:rPr b="0" i="0" lang="en-US" sz="1500" u="none" cap="none" strike="noStrike">
                <a:solidFill>
                  <a:srgbClr val="1B2430"/>
                </a:solidFill>
                <a:latin typeface="Calibri"/>
                <a:ea typeface="Calibri"/>
                <a:cs typeface="Calibri"/>
                <a:sym typeface="Calibri"/>
              </a:rPr>
              <a:t>bed-days used by all 278 children with cardiac disease</a:t>
            </a:r>
            <a:endParaRPr b="0" i="0" sz="1500" u="none" cap="none" strike="noStrike">
              <a:solidFill>
                <a:schemeClr val="dk1"/>
              </a:solidFill>
              <a:latin typeface="Calibri"/>
              <a:ea typeface="Calibri"/>
              <a:cs typeface="Calibri"/>
              <a:sym typeface="Calibri"/>
            </a:endParaRPr>
          </a:p>
        </p:txBody>
      </p:sp>
      <p:sp>
        <p:nvSpPr>
          <p:cNvPr id="192" name="Google Shape;192;p10"/>
          <p:cNvSpPr txBox="1"/>
          <p:nvPr/>
        </p:nvSpPr>
        <p:spPr>
          <a:xfrm>
            <a:off x="548640" y="6355080"/>
            <a:ext cx="11094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3"/>
              </a:buClr>
              <a:buSzPts val="1000"/>
              <a:buFont typeface="Calibri"/>
              <a:buNone/>
            </a:pPr>
            <a:r>
              <a:rPr b="0" i="1" lang="en-US" sz="1000" u="none" cap="none" strike="noStrike">
                <a:solidFill>
                  <a:srgbClr val="5B6573"/>
                </a:solidFill>
                <a:latin typeface="Calibri"/>
                <a:ea typeface="Calibri"/>
                <a:cs typeface="Calibri"/>
                <a:sym typeface="Calibri"/>
              </a:rPr>
              <a:t>Bed-days = date of outcome minus date of admission for children discharged alive or who died. ICU/acute care day counts were incompletely recorded, so they are not totalled.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97" name="Shape 197"/>
        <p:cNvGrpSpPr/>
        <p:nvPr/>
      </p:nvGrpSpPr>
      <p:grpSpPr>
        <a:xfrm>
          <a:off x="0" y="0"/>
          <a:ext cx="0" cy="0"/>
          <a:chOff x="0" y="0"/>
          <a:chExt cx="0" cy="0"/>
        </a:xfrm>
      </p:grpSpPr>
      <p:sp>
        <p:nvSpPr>
          <p:cNvPr id="198" name="Google Shape;198;p11"/>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The lesson: prevention aimed at young infants is where the gain is</a:t>
            </a:r>
            <a:endParaRPr b="0" i="0" sz="2900" u="none" cap="none" strike="noStrike">
              <a:solidFill>
                <a:schemeClr val="dk1"/>
              </a:solidFill>
              <a:latin typeface="Calibri"/>
              <a:ea typeface="Calibri"/>
              <a:cs typeface="Calibri"/>
              <a:sym typeface="Calibri"/>
            </a:endParaRPr>
          </a:p>
        </p:txBody>
      </p:sp>
      <p:sp>
        <p:nvSpPr>
          <p:cNvPr id="199" name="Google Shape;199;p11"/>
          <p:cNvSpPr/>
          <p:nvPr/>
        </p:nvSpPr>
        <p:spPr>
          <a:xfrm>
            <a:off x="548640" y="1828800"/>
            <a:ext cx="3383280" cy="3657600"/>
          </a:xfrm>
          <a:prstGeom prst="roundRect">
            <a:avLst>
              <a:gd fmla="val 3243"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868680" y="2103120"/>
            <a:ext cx="822960" cy="82296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 name="Google Shape;201;p11"/>
          <p:cNvPicPr preferRelativeResize="0"/>
          <p:nvPr/>
        </p:nvPicPr>
        <p:blipFill rotWithShape="1">
          <a:blip r:embed="rId3">
            <a:alphaModFix/>
          </a:blip>
          <a:srcRect b="0" l="0" r="0" t="0"/>
          <a:stretch/>
        </p:blipFill>
        <p:spPr>
          <a:xfrm>
            <a:off x="1049731" y="2284171"/>
            <a:ext cx="460858" cy="460858"/>
          </a:xfrm>
          <a:prstGeom prst="rect">
            <a:avLst/>
          </a:prstGeom>
          <a:noFill/>
          <a:ln>
            <a:noFill/>
          </a:ln>
        </p:spPr>
      </p:pic>
      <p:sp>
        <p:nvSpPr>
          <p:cNvPr id="202" name="Google Shape;202;p11"/>
          <p:cNvSpPr txBox="1"/>
          <p:nvPr/>
        </p:nvSpPr>
        <p:spPr>
          <a:xfrm>
            <a:off x="868680" y="3108960"/>
            <a:ext cx="28346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000"/>
              <a:buFont typeface="Cambria"/>
              <a:buNone/>
            </a:pPr>
            <a:r>
              <a:rPr b="1" i="0" lang="en-US" sz="2000" u="none" cap="none" strike="noStrike">
                <a:solidFill>
                  <a:srgbClr val="1B2430"/>
                </a:solidFill>
                <a:latin typeface="Cambria"/>
                <a:ea typeface="Cambria"/>
                <a:cs typeface="Cambria"/>
                <a:sym typeface="Cambria"/>
              </a:rPr>
              <a:t>RSV is common in this group</a:t>
            </a:r>
            <a:endParaRPr b="0" i="0" sz="2000" u="none" cap="none" strike="noStrike">
              <a:solidFill>
                <a:schemeClr val="dk1"/>
              </a:solidFill>
              <a:latin typeface="Calibri"/>
              <a:ea typeface="Calibri"/>
              <a:cs typeface="Calibri"/>
              <a:sym typeface="Calibri"/>
            </a:endParaRPr>
          </a:p>
        </p:txBody>
      </p:sp>
      <p:sp>
        <p:nvSpPr>
          <p:cNvPr id="203" name="Google Shape;203;p11"/>
          <p:cNvSpPr txBox="1"/>
          <p:nvPr/>
        </p:nvSpPr>
        <p:spPr>
          <a:xfrm>
            <a:off x="868680" y="4023360"/>
            <a:ext cx="27432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400"/>
              <a:buFont typeface="Calibri"/>
              <a:buNone/>
            </a:pPr>
            <a:r>
              <a:rPr b="0" i="0" lang="en-US" sz="1400" u="none" cap="none" strike="noStrike">
                <a:solidFill>
                  <a:srgbClr val="5B6573"/>
                </a:solidFill>
                <a:latin typeface="Calibri"/>
                <a:ea typeface="Calibri"/>
                <a:cs typeface="Calibri"/>
                <a:sym typeface="Calibri"/>
              </a:rPr>
              <a:t>1 in 5 tested positive, and 22% of infants under 12 months against 12% of older children</a:t>
            </a:r>
            <a:endParaRPr b="0" i="0" sz="1400" u="none" cap="none" strike="noStrike">
              <a:solidFill>
                <a:schemeClr val="dk1"/>
              </a:solidFill>
              <a:latin typeface="Calibri"/>
              <a:ea typeface="Calibri"/>
              <a:cs typeface="Calibri"/>
              <a:sym typeface="Calibri"/>
            </a:endParaRPr>
          </a:p>
        </p:txBody>
      </p:sp>
      <p:sp>
        <p:nvSpPr>
          <p:cNvPr id="204" name="Google Shape;204;p11"/>
          <p:cNvSpPr txBox="1"/>
          <p:nvPr/>
        </p:nvSpPr>
        <p:spPr>
          <a:xfrm>
            <a:off x="3950208" y="3200400"/>
            <a:ext cx="4114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102E"/>
              </a:buClr>
              <a:buSzPts val="3000"/>
              <a:buFont typeface="Calibri"/>
              <a:buNone/>
            </a:pPr>
            <a:r>
              <a:rPr b="1" i="0" lang="en-US" sz="3000" u="none" cap="none" strike="noStrike">
                <a:solidFill>
                  <a:srgbClr val="C8102E"/>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205" name="Google Shape;205;p11"/>
          <p:cNvSpPr/>
          <p:nvPr/>
        </p:nvSpPr>
        <p:spPr>
          <a:xfrm>
            <a:off x="4389120" y="1828800"/>
            <a:ext cx="3383280" cy="3657600"/>
          </a:xfrm>
          <a:prstGeom prst="roundRect">
            <a:avLst>
              <a:gd fmla="val 3243"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4709160" y="2103120"/>
            <a:ext cx="822960" cy="82296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7" name="Google Shape;207;p11"/>
          <p:cNvPicPr preferRelativeResize="0"/>
          <p:nvPr/>
        </p:nvPicPr>
        <p:blipFill rotWithShape="1">
          <a:blip r:embed="rId4">
            <a:alphaModFix/>
          </a:blip>
          <a:srcRect b="0" l="0" r="0" t="0"/>
          <a:stretch/>
        </p:blipFill>
        <p:spPr>
          <a:xfrm>
            <a:off x="4890211" y="2284171"/>
            <a:ext cx="460858" cy="460858"/>
          </a:xfrm>
          <a:prstGeom prst="rect">
            <a:avLst/>
          </a:prstGeom>
          <a:noFill/>
          <a:ln>
            <a:noFill/>
          </a:ln>
        </p:spPr>
      </p:pic>
      <p:sp>
        <p:nvSpPr>
          <p:cNvPr id="208" name="Google Shape;208;p11"/>
          <p:cNvSpPr txBox="1"/>
          <p:nvPr/>
        </p:nvSpPr>
        <p:spPr>
          <a:xfrm>
            <a:off x="4709160" y="3108960"/>
            <a:ext cx="28346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000"/>
              <a:buFont typeface="Cambria"/>
              <a:buNone/>
            </a:pPr>
            <a:r>
              <a:rPr b="1" i="0" lang="en-US" sz="2000" u="none" cap="none" strike="noStrike">
                <a:solidFill>
                  <a:srgbClr val="1B2430"/>
                </a:solidFill>
                <a:latin typeface="Cambria"/>
                <a:ea typeface="Cambria"/>
                <a:cs typeface="Cambria"/>
                <a:sym typeface="Cambria"/>
              </a:rPr>
              <a:t>And these admissions are costly</a:t>
            </a:r>
            <a:endParaRPr b="0" i="0" sz="2000" u="none" cap="none" strike="noStrike">
              <a:solidFill>
                <a:schemeClr val="dk1"/>
              </a:solidFill>
              <a:latin typeface="Calibri"/>
              <a:ea typeface="Calibri"/>
              <a:cs typeface="Calibri"/>
              <a:sym typeface="Calibri"/>
            </a:endParaRPr>
          </a:p>
        </p:txBody>
      </p:sp>
      <p:sp>
        <p:nvSpPr>
          <p:cNvPr id="209" name="Google Shape;209;p11"/>
          <p:cNvSpPr txBox="1"/>
          <p:nvPr/>
        </p:nvSpPr>
        <p:spPr>
          <a:xfrm>
            <a:off x="4709160" y="4023360"/>
            <a:ext cx="27432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400"/>
              <a:buFont typeface="Calibri"/>
              <a:buNone/>
            </a:pPr>
            <a:r>
              <a:rPr b="0" i="0" lang="en-US" sz="1400" u="none" cap="none" strike="noStrike">
                <a:solidFill>
                  <a:srgbClr val="5B6573"/>
                </a:solidFill>
                <a:latin typeface="Calibri"/>
                <a:ea typeface="Calibri"/>
                <a:cs typeface="Calibri"/>
                <a:sym typeface="Calibri"/>
              </a:rPr>
              <a:t>14% of the 278 children died, and a stay ran about two weeks</a:t>
            </a:r>
            <a:endParaRPr b="0" i="0" sz="1400" u="none" cap="none" strike="noStrike">
              <a:solidFill>
                <a:schemeClr val="dk1"/>
              </a:solidFill>
              <a:latin typeface="Calibri"/>
              <a:ea typeface="Calibri"/>
              <a:cs typeface="Calibri"/>
              <a:sym typeface="Calibri"/>
            </a:endParaRPr>
          </a:p>
        </p:txBody>
      </p:sp>
      <p:sp>
        <p:nvSpPr>
          <p:cNvPr id="210" name="Google Shape;210;p11"/>
          <p:cNvSpPr txBox="1"/>
          <p:nvPr/>
        </p:nvSpPr>
        <p:spPr>
          <a:xfrm>
            <a:off x="7790688" y="3200400"/>
            <a:ext cx="4114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8102E"/>
              </a:buClr>
              <a:buSzPts val="3000"/>
              <a:buFont typeface="Calibri"/>
              <a:buNone/>
            </a:pPr>
            <a:r>
              <a:rPr b="1" i="0" lang="en-US" sz="3000" u="none" cap="none" strike="noStrike">
                <a:solidFill>
                  <a:srgbClr val="C8102E"/>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211" name="Google Shape;211;p11"/>
          <p:cNvSpPr/>
          <p:nvPr/>
        </p:nvSpPr>
        <p:spPr>
          <a:xfrm>
            <a:off x="8229600" y="1828800"/>
            <a:ext cx="3383280" cy="3657600"/>
          </a:xfrm>
          <a:prstGeom prst="roundRect">
            <a:avLst>
              <a:gd fmla="val 3243"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8549640" y="2103120"/>
            <a:ext cx="822960" cy="822960"/>
          </a:xfrm>
          <a:prstGeom prst="ellipse">
            <a:avLst/>
          </a:prstGeom>
          <a:solidFill>
            <a:srgbClr val="14213D"/>
          </a:solidFill>
          <a:ln cap="flat" cmpd="sng" w="1270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3" name="Google Shape;213;p11"/>
          <p:cNvPicPr preferRelativeResize="0"/>
          <p:nvPr/>
        </p:nvPicPr>
        <p:blipFill rotWithShape="1">
          <a:blip r:embed="rId5">
            <a:alphaModFix/>
          </a:blip>
          <a:srcRect b="0" l="0" r="0" t="0"/>
          <a:stretch/>
        </p:blipFill>
        <p:spPr>
          <a:xfrm>
            <a:off x="8730691" y="2284171"/>
            <a:ext cx="460858" cy="460858"/>
          </a:xfrm>
          <a:prstGeom prst="rect">
            <a:avLst/>
          </a:prstGeom>
          <a:noFill/>
          <a:ln>
            <a:noFill/>
          </a:ln>
        </p:spPr>
      </p:pic>
      <p:sp>
        <p:nvSpPr>
          <p:cNvPr id="214" name="Google Shape;214;p11"/>
          <p:cNvSpPr txBox="1"/>
          <p:nvPr/>
        </p:nvSpPr>
        <p:spPr>
          <a:xfrm>
            <a:off x="8549640" y="3108960"/>
            <a:ext cx="28346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000"/>
              <a:buFont typeface="Cambria"/>
              <a:buNone/>
            </a:pPr>
            <a:r>
              <a:rPr b="1" i="0" lang="en-US" sz="2000" u="none" cap="none" strike="noStrike">
                <a:solidFill>
                  <a:srgbClr val="1B2430"/>
                </a:solidFill>
                <a:latin typeface="Cambria"/>
                <a:ea typeface="Cambria"/>
                <a:cs typeface="Cambria"/>
                <a:sym typeface="Cambria"/>
              </a:rPr>
              <a:t>So prevention is the lever</a:t>
            </a:r>
            <a:endParaRPr b="0" i="0" sz="2000" u="none" cap="none" strike="noStrike">
              <a:solidFill>
                <a:schemeClr val="dk1"/>
              </a:solidFill>
              <a:latin typeface="Calibri"/>
              <a:ea typeface="Calibri"/>
              <a:cs typeface="Calibri"/>
              <a:sym typeface="Calibri"/>
            </a:endParaRPr>
          </a:p>
        </p:txBody>
      </p:sp>
      <p:sp>
        <p:nvSpPr>
          <p:cNvPr id="215" name="Google Shape;215;p11"/>
          <p:cNvSpPr txBox="1"/>
          <p:nvPr/>
        </p:nvSpPr>
        <p:spPr>
          <a:xfrm>
            <a:off x="8549640" y="4023360"/>
            <a:ext cx="27432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573"/>
              </a:buClr>
              <a:buSzPts val="1400"/>
              <a:buFont typeface="Calibri"/>
              <a:buNone/>
            </a:pPr>
            <a:r>
              <a:rPr b="0" i="0" lang="en-US" sz="1400" u="none" cap="none" strike="noStrike">
                <a:solidFill>
                  <a:srgbClr val="5B6573"/>
                </a:solidFill>
                <a:latin typeface="Calibri"/>
                <a:ea typeface="Calibri"/>
                <a:cs typeface="Calibri"/>
                <a:sym typeface="Calibri"/>
              </a:rPr>
              <a:t>Positivity peaks in infancy — the window maternal vaccines and monoclonals cover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12"/>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From evidence to impact: three actions for Kenya</a:t>
            </a:r>
            <a:endParaRPr b="0" i="0" sz="2900" u="none" cap="none" strike="noStrike">
              <a:solidFill>
                <a:schemeClr val="dk1"/>
              </a:solidFill>
              <a:latin typeface="Calibri"/>
              <a:ea typeface="Calibri"/>
              <a:cs typeface="Calibri"/>
              <a:sym typeface="Calibri"/>
            </a:endParaRPr>
          </a:p>
        </p:txBody>
      </p:sp>
      <p:sp>
        <p:nvSpPr>
          <p:cNvPr id="222" name="Google Shape;222;p12"/>
          <p:cNvSpPr/>
          <p:nvPr/>
        </p:nvSpPr>
        <p:spPr>
          <a:xfrm>
            <a:off x="548640" y="1600200"/>
            <a:ext cx="11064240" cy="1280160"/>
          </a:xfrm>
          <a:prstGeom prst="roundRect">
            <a:avLst>
              <a:gd fmla="val 8571"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822960" y="1856232"/>
            <a:ext cx="777240" cy="7772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txBox="1"/>
          <p:nvPr/>
        </p:nvSpPr>
        <p:spPr>
          <a:xfrm>
            <a:off x="822960" y="1856232"/>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1</a:t>
            </a:r>
            <a:endParaRPr b="0" i="0" sz="2800" u="none" cap="none" strike="noStrike">
              <a:solidFill>
                <a:schemeClr val="dk1"/>
              </a:solidFill>
              <a:latin typeface="Calibri"/>
              <a:ea typeface="Calibri"/>
              <a:cs typeface="Calibri"/>
              <a:sym typeface="Calibri"/>
            </a:endParaRPr>
          </a:p>
        </p:txBody>
      </p:sp>
      <p:sp>
        <p:nvSpPr>
          <p:cNvPr id="225" name="Google Shape;225;p12"/>
          <p:cNvSpPr txBox="1"/>
          <p:nvPr/>
        </p:nvSpPr>
        <p:spPr>
          <a:xfrm>
            <a:off x="1920240" y="1783080"/>
            <a:ext cx="3108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2100"/>
              <a:buFont typeface="Cambria"/>
              <a:buNone/>
            </a:pPr>
            <a:r>
              <a:rPr b="1" i="0" lang="en-US" sz="2100" u="none" cap="none" strike="noStrike">
                <a:solidFill>
                  <a:srgbClr val="1B2430"/>
                </a:solidFill>
                <a:latin typeface="Cambria"/>
                <a:ea typeface="Cambria"/>
                <a:cs typeface="Cambria"/>
                <a:sym typeface="Cambria"/>
              </a:rPr>
              <a:t>Prioritise</a:t>
            </a:r>
            <a:endParaRPr b="0" i="0" sz="2100" u="none" cap="none" strike="noStrike">
              <a:solidFill>
                <a:schemeClr val="dk1"/>
              </a:solidFill>
              <a:latin typeface="Calibri"/>
              <a:ea typeface="Calibri"/>
              <a:cs typeface="Calibri"/>
              <a:sym typeface="Calibri"/>
            </a:endParaRPr>
          </a:p>
        </p:txBody>
      </p:sp>
      <p:sp>
        <p:nvSpPr>
          <p:cNvPr id="226" name="Google Shape;226;p12"/>
          <p:cNvSpPr txBox="1"/>
          <p:nvPr/>
        </p:nvSpPr>
        <p:spPr>
          <a:xfrm>
            <a:off x="5029200" y="1709928"/>
            <a:ext cx="63093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1500"/>
              <a:buFont typeface="Calibri"/>
              <a:buNone/>
            </a:pPr>
            <a:r>
              <a:rPr lang="en-US" sz="1500">
                <a:solidFill>
                  <a:srgbClr val="1B2430"/>
                </a:solidFill>
                <a:latin typeface="Calibri"/>
                <a:ea typeface="Calibri"/>
                <a:cs typeface="Calibri"/>
                <a:sym typeface="Calibri"/>
              </a:rPr>
              <a:t>I</a:t>
            </a:r>
            <a:r>
              <a:rPr b="0" i="0" lang="en-US" sz="1500" u="none" cap="none" strike="noStrike">
                <a:solidFill>
                  <a:srgbClr val="1B2430"/>
                </a:solidFill>
                <a:latin typeface="Calibri"/>
                <a:ea typeface="Calibri"/>
                <a:cs typeface="Calibri"/>
                <a:sym typeface="Calibri"/>
              </a:rPr>
              <a:t>nfants with cardiac disease, and pregnant women where maternal vaccination is used, in the first wave of any RSV prevention rollout — they gain the most per infection averted.</a:t>
            </a:r>
            <a:endParaRPr b="0" i="0" sz="1500" u="none" cap="none" strike="noStrike">
              <a:solidFill>
                <a:schemeClr val="dk1"/>
              </a:solidFill>
              <a:latin typeface="Calibri"/>
              <a:ea typeface="Calibri"/>
              <a:cs typeface="Calibri"/>
              <a:sym typeface="Calibri"/>
            </a:endParaRPr>
          </a:p>
        </p:txBody>
      </p:sp>
      <p:sp>
        <p:nvSpPr>
          <p:cNvPr id="227" name="Google Shape;227;p12"/>
          <p:cNvSpPr/>
          <p:nvPr/>
        </p:nvSpPr>
        <p:spPr>
          <a:xfrm>
            <a:off x="548640" y="3081528"/>
            <a:ext cx="11064240" cy="1280160"/>
          </a:xfrm>
          <a:prstGeom prst="roundRect">
            <a:avLst>
              <a:gd fmla="val 8571"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822960" y="3337560"/>
            <a:ext cx="777240" cy="7772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
          <p:cNvSpPr txBox="1"/>
          <p:nvPr/>
        </p:nvSpPr>
        <p:spPr>
          <a:xfrm>
            <a:off x="822960" y="333756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2</a:t>
            </a:r>
            <a:endParaRPr b="0" i="0" sz="2800" u="none" cap="none" strike="noStrike">
              <a:solidFill>
                <a:schemeClr val="dk1"/>
              </a:solidFill>
              <a:latin typeface="Calibri"/>
              <a:ea typeface="Calibri"/>
              <a:cs typeface="Calibri"/>
              <a:sym typeface="Calibri"/>
            </a:endParaRPr>
          </a:p>
        </p:txBody>
      </p:sp>
      <p:sp>
        <p:nvSpPr>
          <p:cNvPr id="230" name="Google Shape;230;p12"/>
          <p:cNvSpPr txBox="1"/>
          <p:nvPr/>
        </p:nvSpPr>
        <p:spPr>
          <a:xfrm>
            <a:off x="1920240" y="3264408"/>
            <a:ext cx="3108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2100"/>
              <a:buFont typeface="Cambria"/>
              <a:buNone/>
            </a:pPr>
            <a:r>
              <a:rPr b="1" i="0" lang="en-US" sz="2100" u="none" cap="none" strike="noStrike">
                <a:solidFill>
                  <a:srgbClr val="1B2430"/>
                </a:solidFill>
                <a:latin typeface="Cambria"/>
                <a:ea typeface="Cambria"/>
                <a:cs typeface="Cambria"/>
                <a:sym typeface="Cambria"/>
              </a:rPr>
              <a:t>Track</a:t>
            </a:r>
            <a:endParaRPr b="0" i="0" sz="2100" u="none" cap="none" strike="noStrike">
              <a:solidFill>
                <a:schemeClr val="dk1"/>
              </a:solidFill>
              <a:latin typeface="Calibri"/>
              <a:ea typeface="Calibri"/>
              <a:cs typeface="Calibri"/>
              <a:sym typeface="Calibri"/>
            </a:endParaRPr>
          </a:p>
        </p:txBody>
      </p:sp>
      <p:sp>
        <p:nvSpPr>
          <p:cNvPr id="231" name="Google Shape;231;p12"/>
          <p:cNvSpPr txBox="1"/>
          <p:nvPr/>
        </p:nvSpPr>
        <p:spPr>
          <a:xfrm>
            <a:off x="5029200" y="3191256"/>
            <a:ext cx="63093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1500"/>
              <a:buFont typeface="Calibri"/>
              <a:buNone/>
            </a:pPr>
            <a:r>
              <a:rPr lang="en-US" sz="1500">
                <a:solidFill>
                  <a:srgbClr val="1B2430"/>
                </a:solidFill>
                <a:latin typeface="Calibri"/>
                <a:ea typeface="Calibri"/>
                <a:cs typeface="Calibri"/>
                <a:sym typeface="Calibri"/>
              </a:rPr>
              <a:t>Track </a:t>
            </a:r>
            <a:r>
              <a:rPr b="0" i="0" lang="en-US" sz="1500" u="none" cap="none" strike="noStrike">
                <a:solidFill>
                  <a:srgbClr val="1B2430"/>
                </a:solidFill>
                <a:latin typeface="Calibri"/>
                <a:ea typeface="Calibri"/>
                <a:cs typeface="Calibri"/>
                <a:sym typeface="Calibri"/>
              </a:rPr>
              <a:t> cardiac-disease </a:t>
            </a:r>
            <a:r>
              <a:rPr lang="en-US" sz="1500">
                <a:solidFill>
                  <a:srgbClr val="1B2430"/>
                </a:solidFill>
                <a:latin typeface="Calibri"/>
                <a:ea typeface="Calibri"/>
                <a:cs typeface="Calibri"/>
                <a:sym typeface="Calibri"/>
              </a:rPr>
              <a:t>in</a:t>
            </a:r>
            <a:r>
              <a:rPr b="0" i="0" lang="en-US" sz="1500" u="none" cap="none" strike="noStrike">
                <a:solidFill>
                  <a:srgbClr val="1B2430"/>
                </a:solidFill>
                <a:latin typeface="Calibri"/>
                <a:ea typeface="Calibri"/>
                <a:cs typeface="Calibri"/>
                <a:sym typeface="Calibri"/>
              </a:rPr>
              <a:t> routine SARI surveillance, so positivity and outcomes in this group can be measured.</a:t>
            </a:r>
            <a:endParaRPr b="0" i="0" sz="1500" u="none" cap="none" strike="noStrike">
              <a:solidFill>
                <a:schemeClr val="dk1"/>
              </a:solidFill>
              <a:latin typeface="Calibri"/>
              <a:ea typeface="Calibri"/>
              <a:cs typeface="Calibri"/>
              <a:sym typeface="Calibri"/>
            </a:endParaRPr>
          </a:p>
        </p:txBody>
      </p:sp>
      <p:sp>
        <p:nvSpPr>
          <p:cNvPr id="232" name="Google Shape;232;p12"/>
          <p:cNvSpPr/>
          <p:nvPr/>
        </p:nvSpPr>
        <p:spPr>
          <a:xfrm>
            <a:off x="548640" y="4562856"/>
            <a:ext cx="11064240" cy="1280160"/>
          </a:xfrm>
          <a:prstGeom prst="roundRect">
            <a:avLst>
              <a:gd fmla="val 8571"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822960" y="4818888"/>
            <a:ext cx="777240" cy="7772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txBox="1"/>
          <p:nvPr/>
        </p:nvSpPr>
        <p:spPr>
          <a:xfrm>
            <a:off x="822960" y="4818888"/>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3</a:t>
            </a:r>
            <a:endParaRPr b="0" i="0" sz="2800" u="none" cap="none" strike="noStrike">
              <a:solidFill>
                <a:schemeClr val="dk1"/>
              </a:solidFill>
              <a:latin typeface="Calibri"/>
              <a:ea typeface="Calibri"/>
              <a:cs typeface="Calibri"/>
              <a:sym typeface="Calibri"/>
            </a:endParaRPr>
          </a:p>
        </p:txBody>
      </p:sp>
      <p:sp>
        <p:nvSpPr>
          <p:cNvPr id="235" name="Google Shape;235;p12"/>
          <p:cNvSpPr txBox="1"/>
          <p:nvPr/>
        </p:nvSpPr>
        <p:spPr>
          <a:xfrm>
            <a:off x="1920240" y="4745736"/>
            <a:ext cx="3108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2100"/>
              <a:buFont typeface="Cambria"/>
              <a:buNone/>
            </a:pPr>
            <a:r>
              <a:rPr b="1" i="0" lang="en-US" sz="2100" u="none" cap="none" strike="noStrike">
                <a:solidFill>
                  <a:srgbClr val="1B2430"/>
                </a:solidFill>
                <a:latin typeface="Cambria"/>
                <a:ea typeface="Cambria"/>
                <a:cs typeface="Cambria"/>
                <a:sym typeface="Cambria"/>
              </a:rPr>
              <a:t>Invest</a:t>
            </a:r>
            <a:endParaRPr b="0" i="0" sz="2100" u="none" cap="none" strike="noStrike">
              <a:solidFill>
                <a:schemeClr val="dk1"/>
              </a:solidFill>
              <a:latin typeface="Calibri"/>
              <a:ea typeface="Calibri"/>
              <a:cs typeface="Calibri"/>
              <a:sym typeface="Calibri"/>
            </a:endParaRPr>
          </a:p>
        </p:txBody>
      </p:sp>
      <p:sp>
        <p:nvSpPr>
          <p:cNvPr id="236" name="Google Shape;236;p12"/>
          <p:cNvSpPr txBox="1"/>
          <p:nvPr/>
        </p:nvSpPr>
        <p:spPr>
          <a:xfrm>
            <a:off x="5029200" y="4672584"/>
            <a:ext cx="63093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1500"/>
              <a:buFont typeface="Calibri"/>
              <a:buNone/>
            </a:pPr>
            <a:r>
              <a:rPr b="0" i="0" lang="en-US" sz="1500" u="none" cap="none" strike="noStrike">
                <a:solidFill>
                  <a:srgbClr val="1B2430"/>
                </a:solidFill>
                <a:latin typeface="Calibri"/>
                <a:ea typeface="Calibri"/>
                <a:cs typeface="Calibri"/>
                <a:sym typeface="Calibri"/>
              </a:rPr>
              <a:t>Run a prospective study with post-discharge follow-up and costing, and confirm the case definitions and diagnoses used here.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3"/>
          <p:cNvSpPr txBox="1"/>
          <p:nvPr/>
        </p:nvSpPr>
        <p:spPr>
          <a:xfrm>
            <a:off x="548640" y="365760"/>
            <a:ext cx="1109441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430"/>
              </a:buClr>
              <a:buSzPts val="2900"/>
              <a:buFont typeface="Cambria"/>
              <a:buNone/>
            </a:pPr>
            <a:r>
              <a:rPr b="1" i="0" lang="en-US" sz="2900" u="none" cap="none" strike="noStrike">
                <a:solidFill>
                  <a:srgbClr val="1B2430"/>
                </a:solidFill>
                <a:latin typeface="Cambria"/>
                <a:ea typeface="Cambria"/>
                <a:cs typeface="Cambria"/>
                <a:sym typeface="Cambria"/>
              </a:rPr>
              <a:t>What these data can, and cannot, tell us</a:t>
            </a:r>
            <a:endParaRPr b="0" i="0" sz="2900" u="none" cap="none" strike="noStrike">
              <a:solidFill>
                <a:schemeClr val="dk1"/>
              </a:solidFill>
              <a:latin typeface="Calibri"/>
              <a:ea typeface="Calibri"/>
              <a:cs typeface="Calibri"/>
              <a:sym typeface="Calibri"/>
            </a:endParaRPr>
          </a:p>
        </p:txBody>
      </p:sp>
      <p:sp>
        <p:nvSpPr>
          <p:cNvPr id="243" name="Google Shape;243;p13"/>
          <p:cNvSpPr/>
          <p:nvPr/>
        </p:nvSpPr>
        <p:spPr>
          <a:xfrm>
            <a:off x="548640" y="1600200"/>
            <a:ext cx="5394960" cy="4023360"/>
          </a:xfrm>
          <a:prstGeom prst="roundRect">
            <a:avLst>
              <a:gd fmla="val 2727"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3"/>
          <p:cNvSpPr/>
          <p:nvPr/>
        </p:nvSpPr>
        <p:spPr>
          <a:xfrm>
            <a:off x="868680" y="1874520"/>
            <a:ext cx="640080" cy="640080"/>
          </a:xfrm>
          <a:prstGeom prst="ellipse">
            <a:avLst/>
          </a:prstGeom>
          <a:solidFill>
            <a:srgbClr val="2F6DB5"/>
          </a:solidFill>
          <a:ln cap="flat" cmpd="sng" w="12700">
            <a:solidFill>
              <a:srgbClr val="2F6D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5" name="Google Shape;245;p13"/>
          <p:cNvPicPr preferRelativeResize="0"/>
          <p:nvPr/>
        </p:nvPicPr>
        <p:blipFill rotWithShape="1">
          <a:blip r:embed="rId3">
            <a:alphaModFix/>
          </a:blip>
          <a:srcRect b="0" l="0" r="0" t="0"/>
          <a:stretch/>
        </p:blipFill>
        <p:spPr>
          <a:xfrm>
            <a:off x="1009498" y="2015338"/>
            <a:ext cx="358445" cy="358445"/>
          </a:xfrm>
          <a:prstGeom prst="rect">
            <a:avLst/>
          </a:prstGeom>
          <a:noFill/>
          <a:ln>
            <a:noFill/>
          </a:ln>
        </p:spPr>
      </p:pic>
      <p:sp>
        <p:nvSpPr>
          <p:cNvPr id="246" name="Google Shape;246;p13"/>
          <p:cNvSpPr txBox="1"/>
          <p:nvPr/>
        </p:nvSpPr>
        <p:spPr>
          <a:xfrm>
            <a:off x="1691640" y="192024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2200"/>
              <a:buFont typeface="Cambria"/>
              <a:buNone/>
            </a:pPr>
            <a:r>
              <a:rPr b="1" i="0" lang="en-US" sz="2200" u="none" cap="none" strike="noStrike">
                <a:solidFill>
                  <a:srgbClr val="1B2430"/>
                </a:solidFill>
                <a:latin typeface="Cambria"/>
                <a:ea typeface="Cambria"/>
                <a:cs typeface="Cambria"/>
                <a:sym typeface="Cambria"/>
              </a:rPr>
              <a:t>Strengths</a:t>
            </a:r>
            <a:endParaRPr b="0" i="0" sz="2200" u="none" cap="none" strike="noStrike">
              <a:solidFill>
                <a:schemeClr val="dk1"/>
              </a:solidFill>
              <a:latin typeface="Calibri"/>
              <a:ea typeface="Calibri"/>
              <a:cs typeface="Calibri"/>
              <a:sym typeface="Calibri"/>
            </a:endParaRPr>
          </a:p>
        </p:txBody>
      </p:sp>
      <p:sp>
        <p:nvSpPr>
          <p:cNvPr id="247" name="Google Shape;247;p13"/>
          <p:cNvSpPr txBox="1"/>
          <p:nvPr/>
        </p:nvSpPr>
        <p:spPr>
          <a:xfrm>
            <a:off x="914400" y="2743200"/>
            <a:ext cx="475488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Multi-site surveillance with standardised forms</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RSV confirmed by real-time RT-PCR</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Restricted to children under five with cardiac disease</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Variable selection and full models reported</a:t>
            </a:r>
            <a:endParaRPr b="0" i="0" sz="1500" u="none" cap="none" strike="noStrike">
              <a:solidFill>
                <a:schemeClr val="dk1"/>
              </a:solidFill>
              <a:latin typeface="Calibri"/>
              <a:ea typeface="Calibri"/>
              <a:cs typeface="Calibri"/>
              <a:sym typeface="Calibri"/>
            </a:endParaRPr>
          </a:p>
        </p:txBody>
      </p:sp>
      <p:sp>
        <p:nvSpPr>
          <p:cNvPr id="248" name="Google Shape;248;p13"/>
          <p:cNvSpPr/>
          <p:nvPr/>
        </p:nvSpPr>
        <p:spPr>
          <a:xfrm>
            <a:off x="6217920" y="1600200"/>
            <a:ext cx="5394960" cy="4023360"/>
          </a:xfrm>
          <a:prstGeom prst="roundRect">
            <a:avLst>
              <a:gd fmla="val 2727" name="adj"/>
            </a:avLst>
          </a:prstGeom>
          <a:solidFill>
            <a:srgbClr val="F4F6FA"/>
          </a:solidFill>
          <a:ln cap="flat" cmpd="sng" w="12700">
            <a:solidFill>
              <a:srgbClr val="F4F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
          <p:cNvSpPr/>
          <p:nvPr/>
        </p:nvSpPr>
        <p:spPr>
          <a:xfrm>
            <a:off x="6537960" y="1874520"/>
            <a:ext cx="640080" cy="64008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0" name="Google Shape;250;p13"/>
          <p:cNvPicPr preferRelativeResize="0"/>
          <p:nvPr/>
        </p:nvPicPr>
        <p:blipFill rotWithShape="1">
          <a:blip r:embed="rId4">
            <a:alphaModFix/>
          </a:blip>
          <a:srcRect b="0" l="0" r="0" t="0"/>
          <a:stretch/>
        </p:blipFill>
        <p:spPr>
          <a:xfrm>
            <a:off x="6678778" y="2015338"/>
            <a:ext cx="358445" cy="358445"/>
          </a:xfrm>
          <a:prstGeom prst="rect">
            <a:avLst/>
          </a:prstGeom>
          <a:noFill/>
          <a:ln>
            <a:noFill/>
          </a:ln>
        </p:spPr>
      </p:pic>
      <p:sp>
        <p:nvSpPr>
          <p:cNvPr id="251" name="Google Shape;251;p13"/>
          <p:cNvSpPr txBox="1"/>
          <p:nvPr/>
        </p:nvSpPr>
        <p:spPr>
          <a:xfrm>
            <a:off x="7360920" y="192024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430"/>
              </a:buClr>
              <a:buSzPts val="2200"/>
              <a:buFont typeface="Cambria"/>
              <a:buNone/>
            </a:pPr>
            <a:r>
              <a:rPr b="1" i="0" lang="en-US" sz="2200" u="none" cap="none" strike="noStrike">
                <a:solidFill>
                  <a:srgbClr val="1B2430"/>
                </a:solidFill>
                <a:latin typeface="Cambria"/>
                <a:ea typeface="Cambria"/>
                <a:cs typeface="Cambria"/>
                <a:sym typeface="Cambria"/>
              </a:rPr>
              <a:t>Limitations</a:t>
            </a:r>
            <a:endParaRPr b="0" i="0" sz="2200" u="none" cap="none" strike="noStrike">
              <a:solidFill>
                <a:schemeClr val="dk1"/>
              </a:solidFill>
              <a:latin typeface="Calibri"/>
              <a:ea typeface="Calibri"/>
              <a:cs typeface="Calibri"/>
              <a:sym typeface="Calibri"/>
            </a:endParaRPr>
          </a:p>
        </p:txBody>
      </p:sp>
      <p:sp>
        <p:nvSpPr>
          <p:cNvPr id="252" name="Google Shape;252;p13"/>
          <p:cNvSpPr txBox="1"/>
          <p:nvPr/>
        </p:nvSpPr>
        <p:spPr>
          <a:xfrm>
            <a:off x="6583680" y="2743200"/>
            <a:ext cx="4754880" cy="27432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Small numbers: 55 RSV-positive, 18 with heart failure</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Cardiac disease partly identified from clinical free text</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All children met the SARI definition, so severity is graded, not present vs absent</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B2430"/>
              </a:buClr>
              <a:buSzPts val="1500"/>
              <a:buFont typeface="Calibri"/>
              <a:buChar char="•"/>
            </a:pPr>
            <a:r>
              <a:rPr b="0" i="0" lang="en-US" sz="1500" u="none" cap="none" strike="noStrike">
                <a:solidFill>
                  <a:srgbClr val="1B2430"/>
                </a:solidFill>
                <a:latin typeface="Calibri"/>
                <a:ea typeface="Calibri"/>
                <a:cs typeface="Calibri"/>
                <a:sym typeface="Calibri"/>
              </a:rPr>
              <a:t>No follow-up after discharge; case-definition codes to be confirmed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257" name="Shape 257"/>
        <p:cNvGrpSpPr/>
        <p:nvPr/>
      </p:nvGrpSpPr>
      <p:grpSpPr>
        <a:xfrm>
          <a:off x="0" y="0"/>
          <a:ext cx="0" cy="0"/>
          <a:chOff x="0" y="0"/>
          <a:chExt cx="0" cy="0"/>
        </a:xfrm>
      </p:grpSpPr>
      <p:sp>
        <p:nvSpPr>
          <p:cNvPr id="258" name="Google Shape;258;p14"/>
          <p:cNvSpPr/>
          <p:nvPr/>
        </p:nvSpPr>
        <p:spPr>
          <a:xfrm>
            <a:off x="640080" y="822960"/>
            <a:ext cx="1005840" cy="1005840"/>
          </a:xfrm>
          <a:prstGeom prst="ellipse">
            <a:avLst/>
          </a:prstGeom>
          <a:solidFill>
            <a:srgbClr val="C8102E"/>
          </a:solidFill>
          <a:ln cap="flat" cmpd="sng" w="12700">
            <a:solidFill>
              <a:srgbClr val="C810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9" name="Google Shape;259;p14"/>
          <p:cNvPicPr preferRelativeResize="0"/>
          <p:nvPr/>
        </p:nvPicPr>
        <p:blipFill rotWithShape="1">
          <a:blip r:embed="rId3">
            <a:alphaModFix/>
          </a:blip>
          <a:srcRect b="0" l="0" r="0" t="0"/>
          <a:stretch/>
        </p:blipFill>
        <p:spPr>
          <a:xfrm>
            <a:off x="868680" y="1051560"/>
            <a:ext cx="548640" cy="548640"/>
          </a:xfrm>
          <a:prstGeom prst="rect">
            <a:avLst/>
          </a:prstGeom>
          <a:noFill/>
          <a:ln>
            <a:noFill/>
          </a:ln>
        </p:spPr>
      </p:pic>
      <p:sp>
        <p:nvSpPr>
          <p:cNvPr id="260" name="Google Shape;260;p14"/>
          <p:cNvSpPr txBox="1"/>
          <p:nvPr/>
        </p:nvSpPr>
        <p:spPr>
          <a:xfrm>
            <a:off x="640080" y="2103120"/>
            <a:ext cx="10515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Cambria"/>
              <a:buNone/>
            </a:pPr>
            <a:r>
              <a:rPr b="1" i="0" lang="en-US" sz="4200" u="none" cap="none" strike="noStrike">
                <a:solidFill>
                  <a:srgbClr val="FFFFFF"/>
                </a:solidFill>
                <a:latin typeface="Cambria"/>
                <a:ea typeface="Cambria"/>
                <a:cs typeface="Cambria"/>
                <a:sym typeface="Cambria"/>
              </a:rPr>
              <a:t>Protect the youngest hearts from RSV</a:t>
            </a:r>
            <a:endParaRPr b="0" i="0" sz="4200" u="none" cap="none" strike="noStrike">
              <a:solidFill>
                <a:schemeClr val="dk1"/>
              </a:solidFill>
              <a:latin typeface="Calibri"/>
              <a:ea typeface="Calibri"/>
              <a:cs typeface="Calibri"/>
              <a:sym typeface="Calibri"/>
            </a:endParaRPr>
          </a:p>
        </p:txBody>
      </p:sp>
      <p:sp>
        <p:nvSpPr>
          <p:cNvPr id="261" name="Google Shape;261;p14"/>
          <p:cNvSpPr txBox="1"/>
          <p:nvPr/>
        </p:nvSpPr>
        <p:spPr>
          <a:xfrm>
            <a:off x="640080" y="3154680"/>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7B2"/>
              </a:buClr>
              <a:buSzPts val="2100"/>
              <a:buFont typeface="Calibri"/>
              <a:buNone/>
            </a:pPr>
            <a:r>
              <a:rPr b="0" i="0" lang="en-US" sz="2100" u="none" cap="none" strike="noStrike">
                <a:solidFill>
                  <a:srgbClr val="F2A7B2"/>
                </a:solidFill>
                <a:latin typeface="Calibri"/>
                <a:ea typeface="Calibri"/>
                <a:cs typeface="Calibri"/>
                <a:sym typeface="Calibri"/>
              </a:rPr>
              <a:t>1 in 5 tested positive  ·  22% of infants under 12 months  ·  about two weeks in hospital per admission</a:t>
            </a:r>
            <a:endParaRPr b="0" i="0" sz="2100" u="none" cap="none" strike="noStrike">
              <a:solidFill>
                <a:schemeClr val="dk1"/>
              </a:solidFill>
              <a:latin typeface="Calibri"/>
              <a:ea typeface="Calibri"/>
              <a:cs typeface="Calibri"/>
              <a:sym typeface="Calibri"/>
            </a:endParaRPr>
          </a:p>
        </p:txBody>
      </p:sp>
      <p:sp>
        <p:nvSpPr>
          <p:cNvPr id="262" name="Google Shape;262;p14"/>
          <p:cNvSpPr txBox="1"/>
          <p:nvPr/>
        </p:nvSpPr>
        <p:spPr>
          <a:xfrm>
            <a:off x="640080" y="4572000"/>
            <a:ext cx="105156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Thank you</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9D3E3"/>
              </a:buClr>
              <a:buSzPts val="1500"/>
              <a:buFont typeface="Calibri"/>
              <a:buNone/>
            </a:pPr>
            <a:r>
              <a:rPr b="0" i="0" lang="en-US" sz="1500" u="none" cap="none" strike="noStrike">
                <a:solidFill>
                  <a:srgbClr val="C9D3E3"/>
                </a:solidFill>
                <a:latin typeface="Calibri"/>
                <a:ea typeface="Calibri"/>
                <a:cs typeface="Calibri"/>
                <a:sym typeface="Calibri"/>
              </a:rPr>
              <a:t>To the children and families, the sentinel hospital teams, and the KEMRI/CGHR surveillance and laboratory staff.</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