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55" d="100"/>
          <a:sy n="155" d="100"/>
        </p:scale>
        <p:origin x="272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5B6573"/>
                </a:solidFill>
                <a:latin typeface="Arial"/>
              </a:defRPr>
            </a:pPr>
            <a:r>
              <a:rPr lang="en-US" sz="1300" b="0" i="0" u="none" strike="noStrike">
                <a:solidFill>
                  <a:srgbClr val="5B6573"/>
                </a:solidFill>
                <a:latin typeface="Arial"/>
              </a:rPr>
              <a:t>RSV positivity (%) among hospitalised SARI/ILI patients</a:t>
            </a:r>
          </a:p>
        </c:rich>
      </c:tx>
      <c:overlay val="0"/>
    </c:title>
    <c:autoTitleDeleted val="0"/>
    <c:plotArea>
      <c:layout/>
      <c:barChart>
        <c:barDir val="bar"/>
        <c:grouping val="stacked"/>
        <c:varyColors val="0"/>
        <c:ser>
          <c:idx val="0"/>
          <c:order val="0"/>
          <c:tx>
            <c:strRef>
              <c:f>Sheet1!$B$1</c:f>
              <c:strCache>
                <c:ptCount val="1"/>
                <c:pt idx="0">
                  <c:v>Reference</c:v>
                </c:pt>
              </c:strCache>
            </c:strRef>
          </c:tx>
          <c:spPr>
            <a:solidFill>
              <a:srgbClr val="8FA6CC"/>
            </a:solidFill>
            <a:effectLst/>
          </c:spPr>
          <c:invertIfNegative val="0"/>
          <c:dLbls>
            <c:numFmt formatCode="0.0&quot;%&quot;;;;" sourceLinked="0"/>
            <c:spPr>
              <a:noFill/>
              <a:ln>
                <a:noFill/>
              </a:ln>
              <a:effectLst/>
            </c:spPr>
            <c:txPr>
              <a:bodyPr/>
              <a:lstStyle/>
              <a:p>
                <a:pPr>
                  <a:defRPr sz="1300" b="1" i="0" u="none" strike="noStrike">
                    <a:solidFill>
                      <a:srgbClr val="FFFFFF"/>
                    </a:solidFill>
                    <a:latin typeface="Arial"/>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Without heart disease</c:v>
                </c:pt>
                <c:pt idx="1">
                  <c:v>With heart disease</c:v>
                </c:pt>
                <c:pt idx="2">
                  <c:v>   aged &lt;6 months</c:v>
                </c:pt>
                <c:pt idx="3">
                  <c:v>   aged 6–11 months</c:v>
                </c:pt>
                <c:pt idx="4">
                  <c:v>   aged 1–4 years</c:v>
                </c:pt>
                <c:pt idx="5">
                  <c:v>   with heart failure</c:v>
                </c:pt>
              </c:strCache>
            </c:strRef>
          </c:cat>
          <c:val>
            <c:numRef>
              <c:f>Sheet1!$B$2:$B$7</c:f>
              <c:numCache>
                <c:formatCode>General</c:formatCode>
                <c:ptCount val="6"/>
                <c:pt idx="0">
                  <c:v>22.7</c:v>
                </c:pt>
                <c:pt idx="1">
                  <c:v>0</c:v>
                </c:pt>
                <c:pt idx="2">
                  <c:v>0</c:v>
                </c:pt>
                <c:pt idx="3">
                  <c:v>0</c:v>
                </c:pt>
                <c:pt idx="4">
                  <c:v>0</c:v>
                </c:pt>
                <c:pt idx="5">
                  <c:v>0</c:v>
                </c:pt>
              </c:numCache>
            </c:numRef>
          </c:val>
          <c:extLst>
            <c:ext xmlns:c16="http://schemas.microsoft.com/office/drawing/2014/chart" uri="{C3380CC4-5D6E-409C-BE32-E72D297353CC}">
              <c16:uniqueId val="{00000000-1656-4483-A33D-C1A28070A34E}"/>
            </c:ext>
          </c:extLst>
        </c:ser>
        <c:ser>
          <c:idx val="1"/>
          <c:order val="1"/>
          <c:tx>
            <c:strRef>
              <c:f>Sheet1!$C$1</c:f>
              <c:strCache>
                <c:ptCount val="1"/>
                <c:pt idx="0">
                  <c:v>Heart disease</c:v>
                </c:pt>
              </c:strCache>
            </c:strRef>
          </c:tx>
          <c:spPr>
            <a:solidFill>
              <a:srgbClr val="C8102E"/>
            </a:solidFill>
            <a:effectLst/>
          </c:spPr>
          <c:invertIfNegative val="0"/>
          <c:dLbls>
            <c:numFmt formatCode="0.0&quot;%&quot;;;;" sourceLinked="0"/>
            <c:spPr>
              <a:noFill/>
              <a:ln>
                <a:noFill/>
              </a:ln>
              <a:effectLst/>
            </c:spPr>
            <c:txPr>
              <a:bodyPr/>
              <a:lstStyle/>
              <a:p>
                <a:pPr>
                  <a:defRPr sz="1300" b="1" i="0" u="none" strike="noStrike">
                    <a:solidFill>
                      <a:srgbClr val="FFFFFF"/>
                    </a:solidFill>
                    <a:latin typeface="Arial"/>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Without heart disease</c:v>
                </c:pt>
                <c:pt idx="1">
                  <c:v>With heart disease</c:v>
                </c:pt>
                <c:pt idx="2">
                  <c:v>   aged &lt;6 months</c:v>
                </c:pt>
                <c:pt idx="3">
                  <c:v>   aged 6–11 months</c:v>
                </c:pt>
                <c:pt idx="4">
                  <c:v>   aged 1–4 years</c:v>
                </c:pt>
                <c:pt idx="5">
                  <c:v>   with heart failure</c:v>
                </c:pt>
              </c:strCache>
            </c:strRef>
          </c:cat>
          <c:val>
            <c:numRef>
              <c:f>Sheet1!$C$2:$C$7</c:f>
              <c:numCache>
                <c:formatCode>General</c:formatCode>
                <c:ptCount val="6"/>
                <c:pt idx="0">
                  <c:v>0</c:v>
                </c:pt>
                <c:pt idx="1">
                  <c:v>19.7</c:v>
                </c:pt>
                <c:pt idx="2">
                  <c:v>22.5</c:v>
                </c:pt>
                <c:pt idx="3">
                  <c:v>22</c:v>
                </c:pt>
                <c:pt idx="4">
                  <c:v>11.9</c:v>
                </c:pt>
                <c:pt idx="5">
                  <c:v>15.8</c:v>
                </c:pt>
              </c:numCache>
            </c:numRef>
          </c:val>
          <c:extLst>
            <c:ext xmlns:c16="http://schemas.microsoft.com/office/drawing/2014/chart" uri="{C3380CC4-5D6E-409C-BE32-E72D297353CC}">
              <c16:uniqueId val="{00000001-1656-4483-A33D-C1A28070A34E}"/>
            </c:ext>
          </c:extLst>
        </c:ser>
        <c:dLbls>
          <c:dLblPos val="inEnd"/>
          <c:showLegendKey val="0"/>
          <c:showVal val="1"/>
          <c:showCatName val="0"/>
          <c:showSerName val="0"/>
          <c:showPercent val="0"/>
          <c:showBubbleSize val="0"/>
        </c:dLbls>
        <c:gapWidth val="45"/>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430"/>
                </a:solidFill>
                <a:latin typeface="Calibri"/>
              </a:defRPr>
            </a:pPr>
            <a:endParaRPr lang="en-US"/>
          </a:p>
        </c:txPr>
        <c:crossAx val="2094734552"/>
        <c:crosses val="autoZero"/>
        <c:auto val="1"/>
        <c:lblAlgn val="ctr"/>
        <c:lblOffset val="100"/>
        <c:noMultiLvlLbl val="1"/>
      </c:catAx>
      <c:valAx>
        <c:axId val="2094734552"/>
        <c:scaling>
          <c:orientation val="minMax"/>
          <c:max val="3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RSV-positive (n=55)</c:v>
                </c:pt>
              </c:strCache>
            </c:strRef>
          </c:tx>
          <c:spPr>
            <a:solidFill>
              <a:srgbClr val="C8102E"/>
            </a:solidFill>
            <a:effectLst/>
          </c:spPr>
          <c:invertIfNegative val="0"/>
          <c:dLbls>
            <c:numFmt formatCode="0&quot;%&quot;" sourceLinked="0"/>
            <c:spPr>
              <a:noFill/>
              <a:ln>
                <a:noFill/>
              </a:ln>
              <a:effectLst/>
            </c:spPr>
            <c:txPr>
              <a:bodyPr/>
              <a:lstStyle/>
              <a:p>
                <a:pPr>
                  <a:defRPr sz="1100" b="0" i="0" u="none" strike="noStrike">
                    <a:solidFill>
                      <a:srgbClr val="1B243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SpO₂ &lt;90%</c:v>
                </c:pt>
                <c:pt idx="1">
                  <c:v>Oxygen given</c:v>
                </c:pt>
                <c:pt idx="2">
                  <c:v>ICU / acute care</c:v>
                </c:pt>
                <c:pt idx="3">
                  <c:v>Severe illness*</c:v>
                </c:pt>
                <c:pt idx="4">
                  <c:v>Died in hospital</c:v>
                </c:pt>
              </c:strCache>
            </c:strRef>
          </c:cat>
          <c:val>
            <c:numRef>
              <c:f>Sheet1!$B$2:$B$6</c:f>
              <c:numCache>
                <c:formatCode>General</c:formatCode>
                <c:ptCount val="5"/>
                <c:pt idx="0">
                  <c:v>21.8</c:v>
                </c:pt>
                <c:pt idx="1">
                  <c:v>87.3</c:v>
                </c:pt>
                <c:pt idx="2">
                  <c:v>40</c:v>
                </c:pt>
                <c:pt idx="3">
                  <c:v>56.4</c:v>
                </c:pt>
                <c:pt idx="4">
                  <c:v>10.9</c:v>
                </c:pt>
              </c:numCache>
            </c:numRef>
          </c:val>
          <c:extLst>
            <c:ext xmlns:c16="http://schemas.microsoft.com/office/drawing/2014/chart" uri="{C3380CC4-5D6E-409C-BE32-E72D297353CC}">
              <c16:uniqueId val="{00000000-0616-4703-A81F-17C5BCA3EB94}"/>
            </c:ext>
          </c:extLst>
        </c:ser>
        <c:ser>
          <c:idx val="1"/>
          <c:order val="1"/>
          <c:tx>
            <c:strRef>
              <c:f>Sheet1!$C$1</c:f>
              <c:strCache>
                <c:ptCount val="1"/>
                <c:pt idx="0">
                  <c:v>RSV-negative (n=224)</c:v>
                </c:pt>
              </c:strCache>
            </c:strRef>
          </c:tx>
          <c:spPr>
            <a:solidFill>
              <a:srgbClr val="2F6DB5"/>
            </a:solidFill>
            <a:effectLst/>
          </c:spPr>
          <c:invertIfNegative val="0"/>
          <c:dLbls>
            <c:numFmt formatCode="0&quot;%&quot;" sourceLinked="0"/>
            <c:spPr>
              <a:noFill/>
              <a:ln>
                <a:noFill/>
              </a:ln>
              <a:effectLst/>
            </c:spPr>
            <c:txPr>
              <a:bodyPr/>
              <a:lstStyle/>
              <a:p>
                <a:pPr>
                  <a:defRPr sz="1100" b="0" i="0" u="none" strike="noStrike">
                    <a:solidFill>
                      <a:srgbClr val="1B243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SpO₂ &lt;90%</c:v>
                </c:pt>
                <c:pt idx="1">
                  <c:v>Oxygen given</c:v>
                </c:pt>
                <c:pt idx="2">
                  <c:v>ICU / acute care</c:v>
                </c:pt>
                <c:pt idx="3">
                  <c:v>Severe illness*</c:v>
                </c:pt>
                <c:pt idx="4">
                  <c:v>Died in hospital</c:v>
                </c:pt>
              </c:strCache>
            </c:strRef>
          </c:cat>
          <c:val>
            <c:numRef>
              <c:f>Sheet1!$C$2:$C$6</c:f>
              <c:numCache>
                <c:formatCode>General</c:formatCode>
                <c:ptCount val="5"/>
                <c:pt idx="0">
                  <c:v>19.600000000000001</c:v>
                </c:pt>
                <c:pt idx="1">
                  <c:v>87.4</c:v>
                </c:pt>
                <c:pt idx="2">
                  <c:v>39</c:v>
                </c:pt>
                <c:pt idx="3">
                  <c:v>56.2</c:v>
                </c:pt>
                <c:pt idx="4">
                  <c:v>15.2</c:v>
                </c:pt>
              </c:numCache>
            </c:numRef>
          </c:val>
          <c:extLst>
            <c:ext xmlns:c16="http://schemas.microsoft.com/office/drawing/2014/chart" uri="{C3380CC4-5D6E-409C-BE32-E72D297353CC}">
              <c16:uniqueId val="{00000001-0616-4703-A81F-17C5BCA3EB94}"/>
            </c:ext>
          </c:extLst>
        </c:ser>
        <c:dLbls>
          <c:showLegendKey val="0"/>
          <c:showVal val="1"/>
          <c:showCatName val="0"/>
          <c:showSerName val="0"/>
          <c:showPercent val="0"/>
          <c:showBubbleSize val="0"/>
        </c:dLbls>
        <c:gapWidth val="60"/>
        <c:overlap val="-8"/>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300">
              <a:solidFill>
                <a:srgbClr val="1B2430"/>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1346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want to tell you a story about a small group of children who carry a big risk: infants with heart disease who end up in hospital with a severe respiratory infection. The question behind it is practical — as RSV prevention products arrive in Africa, who should be protected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hook. Among children hospitalised with severe acute respiratory illness, one in seven with heart disease did not go home. That is nearly double the rate of other children, and the difference holds after adjustment. So these children matter. The next question is what role RSV plays.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timing matters. New RSV products are arriving, but no country can protect every child at once. To decide who goes first, we need local data. So we asked a simple question of Kenya's surveillance system.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come from KEMRI's hospital-based SARI and ILI surveillance. Of more than 42,000 records, 3,627 children were tested for RSV by PCR between 2024 and 2026. 279 had heart disease, and 55 of them had RSV. Most were infants. Nineteen had documented heart failure.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RSV is common. About one in five children with heart disease admitted with SARI had RSV, the same as other children. The burden sits in infants under a year, which is exactly the age window that maternal vaccines and monoclonal antibodies protect.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twist. We expected RSV to make these children sicker. It did not. Oxygen need, ICU use, severe illness and death were almost identical whether or not the child had RSV. Once a child with heart disease is admitted, the heart sets the course. We are cautious: 55 children is a small group. But the message for policy is clear: the gain is not in the ward, it is before the ward.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economics. Those 55 RSV admissions used about 1,200 bed-days, two to three weeks each, and 22 needed intensive or acute care. In a referral hospital, that is capacity that could serve other children. Every RSV admission prevented in this group gives back weeks of a bed.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the three findings together: RSV is common, the heart drives severity, so the gains lie upstream. Prevention, not treatment, is where this evidence points.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three actions. Prioritise these infants when RSV prevention is introduced. Track them in surveillance so we can see the impact. And build the investment case with a prospective study that follows children after discharge and counts the costs.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honest about the evidence: the numbers are small, heart disease was partly identified from clinical notes, and we could not follow children after discharge. These are reasons for the prospective study we propose, not reasons to delay prioritisation.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RSV is common in these children, their risk is high, and the cost is weeks of hospital care. Protecting the youngest hearts from RSV is a clear, measurable way to turn research evidence into impact. Thank you.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1.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txBox="1"/>
          <p:nvPr/>
        </p:nvSpPr>
        <p:spPr>
          <a:xfrm>
            <a:off x="640080" y="640080"/>
            <a:ext cx="8229600" cy="365760"/>
          </a:xfrm>
          <a:prstGeom prst="rect">
            <a:avLst/>
          </a:prstGeom>
          <a:noFill/>
          <a:ln/>
        </p:spPr>
        <p:txBody>
          <a:bodyPr wrap="square" lIns="0" tIns="0" rIns="0" bIns="0" rtlCol="0" anchor="ctr"/>
          <a:lstStyle/>
          <a:p>
            <a:pPr marL="0" indent="0">
              <a:buNone/>
            </a:pPr>
            <a:r>
              <a:rPr lang="en-US" sz="1200" b="1" kern="0" spc="200" dirty="0">
                <a:solidFill>
                  <a:srgbClr val="F2A7B2"/>
                </a:solidFill>
                <a:latin typeface="Calibri" pitchFamily="34" charset="0"/>
                <a:ea typeface="Calibri" pitchFamily="34" charset="-122"/>
                <a:cs typeface="Calibri" pitchFamily="34" charset="-120"/>
              </a:rPr>
              <a:t>17th KASH CONFERENCE 2027  ·  SUB-THEME 7: MATERNAL, CHILD &amp; ADOLESCENT HEALTH</a:t>
            </a:r>
            <a:endParaRPr lang="en-US" sz="1200" dirty="0"/>
          </a:p>
        </p:txBody>
      </p:sp>
      <p:sp>
        <p:nvSpPr>
          <p:cNvPr id="3" name="Text 1"/>
          <p:cNvSpPr txBox="1"/>
          <p:nvPr/>
        </p:nvSpPr>
        <p:spPr>
          <a:xfrm>
            <a:off x="640080" y="1463040"/>
            <a:ext cx="7772400" cy="109728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Hearts at Risk</a:t>
            </a:r>
            <a:endParaRPr lang="en-US" sz="5400" dirty="0"/>
          </a:p>
        </p:txBody>
      </p:sp>
      <p:sp>
        <p:nvSpPr>
          <p:cNvPr id="4" name="Text 2"/>
          <p:cNvSpPr txBox="1"/>
          <p:nvPr/>
        </p:nvSpPr>
        <p:spPr>
          <a:xfrm>
            <a:off x="640080" y="2651760"/>
            <a:ext cx="7589520" cy="1371600"/>
          </a:xfrm>
          <a:prstGeom prst="rect">
            <a:avLst/>
          </a:prstGeom>
          <a:noFill/>
          <a:ln/>
        </p:spPr>
        <p:txBody>
          <a:bodyPr wrap="square" lIns="0" tIns="0" rIns="0" bIns="0" rtlCol="0" anchor="t"/>
          <a:lstStyle/>
          <a:p>
            <a:pPr marL="0" indent="0">
              <a:buNone/>
            </a:pPr>
            <a:r>
              <a:rPr lang="en-US" sz="2000" dirty="0">
                <a:solidFill>
                  <a:srgbClr val="C9D3E3"/>
                </a:solidFill>
                <a:latin typeface="Calibri" pitchFamily="34" charset="0"/>
                <a:ea typeface="Calibri" pitchFamily="34" charset="-122"/>
                <a:cs typeface="Calibri" pitchFamily="34" charset="-120"/>
              </a:rPr>
              <a:t>RSV in children with heart disease hospitalised with severe acute respiratory illness in Kenya — surveillance evidence to guide targeted rollout of RSV prevention</a:t>
            </a:r>
            <a:endParaRPr lang="en-US" sz="2000" dirty="0"/>
          </a:p>
        </p:txBody>
      </p:sp>
      <p:sp>
        <p:nvSpPr>
          <p:cNvPr id="5" name="Text 3"/>
          <p:cNvSpPr txBox="1"/>
          <p:nvPr/>
        </p:nvSpPr>
        <p:spPr>
          <a:xfrm>
            <a:off x="640080" y="4846320"/>
            <a:ext cx="7772400" cy="8229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Steve Charo</a:t>
            </a:r>
            <a:endParaRPr lang="en-US" sz="1400" dirty="0"/>
          </a:p>
          <a:p>
            <a:pPr marL="0" indent="0">
              <a:buNone/>
            </a:pPr>
            <a:r>
              <a:rPr lang="en-US" sz="1400" dirty="0">
                <a:solidFill>
                  <a:srgbClr val="C9D3E3"/>
                </a:solidFill>
                <a:latin typeface="Calibri" pitchFamily="34" charset="0"/>
                <a:ea typeface="Calibri" pitchFamily="34" charset="-122"/>
                <a:cs typeface="Calibri" pitchFamily="34" charset="-120"/>
              </a:rPr>
              <a:t>Centre for Global Health Research, Kenya Medical Research Institute (KEMRI), Kisumu</a:t>
            </a:r>
            <a:endParaRPr lang="en-US" sz="1400" dirty="0"/>
          </a:p>
        </p:txBody>
      </p:sp>
      <p:sp>
        <p:nvSpPr>
          <p:cNvPr id="6" name="Shape 4"/>
          <p:cNvSpPr/>
          <p:nvPr/>
        </p:nvSpPr>
        <p:spPr>
          <a:xfrm>
            <a:off x="8869680" y="1737360"/>
            <a:ext cx="2651760" cy="2651760"/>
          </a:xfrm>
          <a:prstGeom prst="ellipse">
            <a:avLst/>
          </a:prstGeom>
          <a:solidFill>
            <a:srgbClr val="C8102E"/>
          </a:solidFill>
          <a:ln w="12700">
            <a:solidFill>
              <a:srgbClr val="C8102E"/>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64040" y="2331720"/>
            <a:ext cx="1463040" cy="1463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Children with heart disease admitted with SARI died at nearly twice the rate of other children</a:t>
            </a:r>
            <a:endParaRPr lang="en-US" sz="3000" dirty="0"/>
          </a:p>
        </p:txBody>
      </p:sp>
      <p:sp>
        <p:nvSpPr>
          <p:cNvPr id="3" name="Shape 1"/>
          <p:cNvSpPr/>
          <p:nvPr/>
        </p:nvSpPr>
        <p:spPr>
          <a:xfrm>
            <a:off x="548640" y="1737360"/>
            <a:ext cx="3474720" cy="3566160"/>
          </a:xfrm>
          <a:prstGeom prst="roundRect">
            <a:avLst>
              <a:gd name="adj" fmla="val 3158"/>
            </a:avLst>
          </a:prstGeom>
          <a:solidFill>
            <a:srgbClr val="F4F6FA"/>
          </a:solidFill>
          <a:ln w="12700">
            <a:solidFill>
              <a:srgbClr val="F4F6FA"/>
            </a:solidFill>
            <a:prstDash val="solid"/>
          </a:ln>
        </p:spPr>
        <p:txBody>
          <a:bodyPr/>
          <a:lstStyle/>
          <a:p>
            <a:endParaRPr lang="en-US"/>
          </a:p>
        </p:txBody>
      </p:sp>
      <p:sp>
        <p:nvSpPr>
          <p:cNvPr id="4" name="Text 2"/>
          <p:cNvSpPr txBox="1"/>
          <p:nvPr/>
        </p:nvSpPr>
        <p:spPr>
          <a:xfrm>
            <a:off x="868680" y="2011680"/>
            <a:ext cx="2834640" cy="1188720"/>
          </a:xfrm>
          <a:prstGeom prst="rect">
            <a:avLst/>
          </a:prstGeom>
          <a:noFill/>
          <a:ln/>
        </p:spPr>
        <p:txBody>
          <a:bodyPr wrap="square" lIns="0" tIns="0" rIns="0" bIns="0" rtlCol="0" anchor="ctr"/>
          <a:lstStyle/>
          <a:p>
            <a:pPr marL="0" indent="0">
              <a:buNone/>
            </a:pPr>
            <a:r>
              <a:rPr lang="en-US" sz="6400" b="1" dirty="0">
                <a:solidFill>
                  <a:srgbClr val="C8102E"/>
                </a:solidFill>
                <a:latin typeface="Cambria" pitchFamily="34" charset="0"/>
                <a:ea typeface="Cambria" pitchFamily="34" charset="-122"/>
                <a:cs typeface="Cambria" pitchFamily="34" charset="-120"/>
              </a:rPr>
              <a:t>14.4%</a:t>
            </a:r>
            <a:endParaRPr lang="en-US" sz="6400" dirty="0"/>
          </a:p>
        </p:txBody>
      </p:sp>
      <p:sp>
        <p:nvSpPr>
          <p:cNvPr id="5" name="Text 3"/>
          <p:cNvSpPr txBox="1"/>
          <p:nvPr/>
        </p:nvSpPr>
        <p:spPr>
          <a:xfrm>
            <a:off x="868680" y="3291840"/>
            <a:ext cx="2834640" cy="914400"/>
          </a:xfrm>
          <a:prstGeom prst="rect">
            <a:avLst/>
          </a:prstGeom>
          <a:noFill/>
          <a:ln/>
        </p:spPr>
        <p:txBody>
          <a:bodyPr wrap="square" lIns="0" tIns="0" rIns="0" bIns="0" rtlCol="0" anchor="t"/>
          <a:lstStyle/>
          <a:p>
            <a:pPr marL="0" indent="0">
              <a:buNone/>
            </a:pPr>
            <a:r>
              <a:rPr lang="en-US" sz="1800" dirty="0">
                <a:solidFill>
                  <a:srgbClr val="1B2430"/>
                </a:solidFill>
                <a:latin typeface="Calibri" pitchFamily="34" charset="0"/>
                <a:ea typeface="Calibri" pitchFamily="34" charset="-122"/>
                <a:cs typeface="Calibri" pitchFamily="34" charset="-120"/>
              </a:rPr>
              <a:t>of children with heart disease died in hospital</a:t>
            </a:r>
            <a:endParaRPr lang="en-US" sz="1800" dirty="0"/>
          </a:p>
        </p:txBody>
      </p:sp>
      <p:sp>
        <p:nvSpPr>
          <p:cNvPr id="6" name="Text 4"/>
          <p:cNvSpPr txBox="1"/>
          <p:nvPr/>
        </p:nvSpPr>
        <p:spPr>
          <a:xfrm>
            <a:off x="868680" y="4480560"/>
            <a:ext cx="2834640" cy="45720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40 of 278</a:t>
            </a:r>
            <a:endParaRPr lang="en-US" sz="1400" dirty="0"/>
          </a:p>
        </p:txBody>
      </p:sp>
      <p:sp>
        <p:nvSpPr>
          <p:cNvPr id="7" name="Shape 5"/>
          <p:cNvSpPr/>
          <p:nvPr/>
        </p:nvSpPr>
        <p:spPr>
          <a:xfrm>
            <a:off x="4297680" y="1737360"/>
            <a:ext cx="3474720" cy="3566160"/>
          </a:xfrm>
          <a:prstGeom prst="roundRect">
            <a:avLst>
              <a:gd name="adj" fmla="val 3158"/>
            </a:avLst>
          </a:prstGeom>
          <a:solidFill>
            <a:srgbClr val="F4F6FA"/>
          </a:solidFill>
          <a:ln w="12700">
            <a:solidFill>
              <a:srgbClr val="F4F6FA"/>
            </a:solidFill>
            <a:prstDash val="solid"/>
          </a:ln>
        </p:spPr>
        <p:txBody>
          <a:bodyPr/>
          <a:lstStyle/>
          <a:p>
            <a:endParaRPr lang="en-US"/>
          </a:p>
        </p:txBody>
      </p:sp>
      <p:sp>
        <p:nvSpPr>
          <p:cNvPr id="8" name="Text 6"/>
          <p:cNvSpPr txBox="1"/>
          <p:nvPr/>
        </p:nvSpPr>
        <p:spPr>
          <a:xfrm>
            <a:off x="4617720" y="2011680"/>
            <a:ext cx="2834640" cy="1188720"/>
          </a:xfrm>
          <a:prstGeom prst="rect">
            <a:avLst/>
          </a:prstGeom>
          <a:noFill/>
          <a:ln/>
        </p:spPr>
        <p:txBody>
          <a:bodyPr wrap="square" lIns="0" tIns="0" rIns="0" bIns="0" rtlCol="0" anchor="ctr"/>
          <a:lstStyle/>
          <a:p>
            <a:pPr marL="0" indent="0">
              <a:buNone/>
            </a:pPr>
            <a:r>
              <a:rPr lang="en-US" sz="6400" b="1" dirty="0">
                <a:solidFill>
                  <a:srgbClr val="2F6DB5"/>
                </a:solidFill>
                <a:latin typeface="Cambria" pitchFamily="34" charset="0"/>
                <a:ea typeface="Cambria" pitchFamily="34" charset="-122"/>
                <a:cs typeface="Cambria" pitchFamily="34" charset="-120"/>
              </a:rPr>
              <a:t>7.4%</a:t>
            </a:r>
            <a:endParaRPr lang="en-US" sz="6400" dirty="0"/>
          </a:p>
        </p:txBody>
      </p:sp>
      <p:sp>
        <p:nvSpPr>
          <p:cNvPr id="9" name="Text 7"/>
          <p:cNvSpPr txBox="1"/>
          <p:nvPr/>
        </p:nvSpPr>
        <p:spPr>
          <a:xfrm>
            <a:off x="4617720" y="3291840"/>
            <a:ext cx="2834640" cy="914400"/>
          </a:xfrm>
          <a:prstGeom prst="rect">
            <a:avLst/>
          </a:prstGeom>
          <a:noFill/>
          <a:ln/>
        </p:spPr>
        <p:txBody>
          <a:bodyPr wrap="square" lIns="0" tIns="0" rIns="0" bIns="0" rtlCol="0" anchor="t"/>
          <a:lstStyle/>
          <a:p>
            <a:pPr marL="0" indent="0">
              <a:buNone/>
            </a:pPr>
            <a:r>
              <a:rPr lang="en-US" sz="1800" dirty="0">
                <a:solidFill>
                  <a:srgbClr val="1B2430"/>
                </a:solidFill>
                <a:latin typeface="Calibri" pitchFamily="34" charset="0"/>
                <a:ea typeface="Calibri" pitchFamily="34" charset="-122"/>
                <a:cs typeface="Calibri" pitchFamily="34" charset="-120"/>
              </a:rPr>
              <a:t>of children without heart disease died in hospital</a:t>
            </a:r>
            <a:endParaRPr lang="en-US" sz="1800" dirty="0"/>
          </a:p>
        </p:txBody>
      </p:sp>
      <p:sp>
        <p:nvSpPr>
          <p:cNvPr id="10" name="Text 8"/>
          <p:cNvSpPr txBox="1"/>
          <p:nvPr/>
        </p:nvSpPr>
        <p:spPr>
          <a:xfrm>
            <a:off x="4617720" y="4480560"/>
            <a:ext cx="2834640" cy="45720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230 of 3,102</a:t>
            </a:r>
            <a:endParaRPr lang="en-US" sz="1400" dirty="0"/>
          </a:p>
        </p:txBody>
      </p:sp>
      <p:sp>
        <p:nvSpPr>
          <p:cNvPr id="11" name="Shape 9"/>
          <p:cNvSpPr/>
          <p:nvPr/>
        </p:nvSpPr>
        <p:spPr>
          <a:xfrm>
            <a:off x="8046720" y="1737360"/>
            <a:ext cx="3474720" cy="3566160"/>
          </a:xfrm>
          <a:prstGeom prst="roundRect">
            <a:avLst>
              <a:gd name="adj" fmla="val 3158"/>
            </a:avLst>
          </a:prstGeom>
          <a:solidFill>
            <a:srgbClr val="F4F6FA"/>
          </a:solidFill>
          <a:ln w="12700">
            <a:solidFill>
              <a:srgbClr val="F4F6FA"/>
            </a:solidFill>
            <a:prstDash val="solid"/>
          </a:ln>
        </p:spPr>
        <p:txBody>
          <a:bodyPr/>
          <a:lstStyle/>
          <a:p>
            <a:endParaRPr lang="en-US"/>
          </a:p>
        </p:txBody>
      </p:sp>
      <p:sp>
        <p:nvSpPr>
          <p:cNvPr id="12" name="Text 10"/>
          <p:cNvSpPr txBox="1"/>
          <p:nvPr/>
        </p:nvSpPr>
        <p:spPr>
          <a:xfrm>
            <a:off x="8366760" y="2011680"/>
            <a:ext cx="2834640" cy="1188720"/>
          </a:xfrm>
          <a:prstGeom prst="rect">
            <a:avLst/>
          </a:prstGeom>
          <a:noFill/>
          <a:ln/>
        </p:spPr>
        <p:txBody>
          <a:bodyPr wrap="square" lIns="0" tIns="0" rIns="0" bIns="0" rtlCol="0" anchor="ctr"/>
          <a:lstStyle/>
          <a:p>
            <a:pPr marL="0" indent="0">
              <a:buNone/>
            </a:pPr>
            <a:r>
              <a:rPr lang="en-US" sz="6400" b="1" dirty="0">
                <a:solidFill>
                  <a:srgbClr val="14213D"/>
                </a:solidFill>
                <a:latin typeface="Cambria" pitchFamily="34" charset="0"/>
                <a:ea typeface="Cambria" pitchFamily="34" charset="-122"/>
                <a:cs typeface="Cambria" pitchFamily="34" charset="-120"/>
              </a:rPr>
              <a:t>56%</a:t>
            </a:r>
            <a:endParaRPr lang="en-US" sz="6400" dirty="0"/>
          </a:p>
        </p:txBody>
      </p:sp>
      <p:sp>
        <p:nvSpPr>
          <p:cNvPr id="13" name="Text 11"/>
          <p:cNvSpPr txBox="1"/>
          <p:nvPr/>
        </p:nvSpPr>
        <p:spPr>
          <a:xfrm>
            <a:off x="8366760" y="3291840"/>
            <a:ext cx="2834640" cy="914400"/>
          </a:xfrm>
          <a:prstGeom prst="rect">
            <a:avLst/>
          </a:prstGeom>
          <a:noFill/>
          <a:ln/>
        </p:spPr>
        <p:txBody>
          <a:bodyPr wrap="square" lIns="0" tIns="0" rIns="0" bIns="0" rtlCol="0" anchor="t"/>
          <a:lstStyle/>
          <a:p>
            <a:pPr marL="0" indent="0">
              <a:buNone/>
            </a:pPr>
            <a:r>
              <a:rPr lang="en-US" sz="1800" dirty="0">
                <a:solidFill>
                  <a:srgbClr val="1B2430"/>
                </a:solidFill>
                <a:latin typeface="Calibri" pitchFamily="34" charset="0"/>
                <a:ea typeface="Calibri" pitchFamily="34" charset="-122"/>
                <a:cs typeface="Calibri" pitchFamily="34" charset="-120"/>
              </a:rPr>
              <a:t>of children with heart disease had severe illness*</a:t>
            </a:r>
            <a:endParaRPr lang="en-US" sz="1800" dirty="0"/>
          </a:p>
        </p:txBody>
      </p:sp>
      <p:sp>
        <p:nvSpPr>
          <p:cNvPr id="14" name="Text 12"/>
          <p:cNvSpPr txBox="1"/>
          <p:nvPr/>
        </p:nvSpPr>
        <p:spPr>
          <a:xfrm>
            <a:off x="8366760" y="4480560"/>
            <a:ext cx="2834640" cy="457200"/>
          </a:xfrm>
          <a:prstGeom prst="rect">
            <a:avLst/>
          </a:prstGeom>
          <a:noFill/>
          <a:ln/>
        </p:spPr>
        <p:txBody>
          <a:bodyPr wrap="square" lIns="0" tIns="0" rIns="0" bIns="0" rtlCol="0" anchor="ctr"/>
          <a:lstStyle/>
          <a:p>
            <a:pPr marL="0" indent="0">
              <a:buNone/>
            </a:pPr>
            <a:r>
              <a:rPr lang="en-US" sz="1400" dirty="0">
                <a:solidFill>
                  <a:srgbClr val="5B6573"/>
                </a:solidFill>
                <a:latin typeface="Calibri" pitchFamily="34" charset="0"/>
                <a:ea typeface="Calibri" pitchFamily="34" charset="-122"/>
                <a:cs typeface="Calibri" pitchFamily="34" charset="-120"/>
              </a:rPr>
              <a:t>vs 37% without heart disease</a:t>
            </a:r>
            <a:endParaRPr lang="en-US" sz="1400" dirty="0"/>
          </a:p>
        </p:txBody>
      </p:sp>
      <p:sp>
        <p:nvSpPr>
          <p:cNvPr id="15" name="Text 13"/>
          <p:cNvSpPr txBox="1"/>
          <p:nvPr/>
        </p:nvSpPr>
        <p:spPr>
          <a:xfrm>
            <a:off x="548640" y="5577840"/>
            <a:ext cx="11094415" cy="548640"/>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After adjusting for age, sex and site, heart disease raised the odds of death (aOR 1.89; 95% CI 1.30–2.74) and of severe illness (aOR 1.59; 1.22–2.05).</a:t>
            </a:r>
            <a:endParaRPr lang="en-US" sz="1500" dirty="0"/>
          </a:p>
        </p:txBody>
      </p:sp>
      <p:sp>
        <p:nvSpPr>
          <p:cNvPr id="16" name="Text 14"/>
          <p:cNvSpPr txBox="1"/>
          <p:nvPr/>
        </p:nvSpPr>
        <p:spPr>
          <a:xfrm>
            <a:off x="548640" y="6355080"/>
            <a:ext cx="11094415" cy="274320"/>
          </a:xfrm>
          <a:prstGeom prst="rect">
            <a:avLst/>
          </a:prstGeom>
          <a:noFill/>
          <a:ln/>
        </p:spPr>
        <p:txBody>
          <a:bodyPr wrap="square" lIns="0" tIns="0" rIns="0" bIns="0" rtlCol="0" anchor="ctr"/>
          <a:lstStyle/>
          <a:p>
            <a:pPr marL="0" indent="0">
              <a:buNone/>
            </a:pPr>
            <a:r>
              <a:rPr lang="en-US" sz="1000" i="1" dirty="0">
                <a:solidFill>
                  <a:srgbClr val="5B6573"/>
                </a:solidFill>
                <a:latin typeface="Calibri" pitchFamily="34" charset="0"/>
                <a:ea typeface="Calibri" pitchFamily="34" charset="-122"/>
                <a:cs typeface="Calibri" pitchFamily="34" charset="-120"/>
              </a:rPr>
              <a:t>* SpO₂ &lt;90%, ICU/acute care admission, mechanical ventilation or death.  Source: KEMRI/CGHR SARI/ILI surveillance, RSV-tested patients, Jan 2024–Jul 2026 (n = 3,627).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RSV prevention is arriving, but doses will be limited — who should be protected first?</a:t>
            </a:r>
            <a:endParaRPr lang="en-US" sz="3000" dirty="0"/>
          </a:p>
        </p:txBody>
      </p:sp>
      <p:sp>
        <p:nvSpPr>
          <p:cNvPr id="3" name="Shape 1"/>
          <p:cNvSpPr/>
          <p:nvPr/>
        </p:nvSpPr>
        <p:spPr>
          <a:xfrm>
            <a:off x="640080" y="1737360"/>
            <a:ext cx="777240" cy="777240"/>
          </a:xfrm>
          <a:prstGeom prst="ellipse">
            <a:avLst/>
          </a:prstGeom>
          <a:solidFill>
            <a:srgbClr val="C8102E"/>
          </a:solidFill>
          <a:ln w="12700">
            <a:solidFill>
              <a:srgbClr val="C8102E"/>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811073" y="1908353"/>
            <a:ext cx="435254" cy="435254"/>
          </a:xfrm>
          <a:prstGeom prst="rect">
            <a:avLst/>
          </a:prstGeom>
        </p:spPr>
      </p:pic>
      <p:sp>
        <p:nvSpPr>
          <p:cNvPr id="5" name="Text 2"/>
          <p:cNvSpPr txBox="1"/>
          <p:nvPr/>
        </p:nvSpPr>
        <p:spPr>
          <a:xfrm>
            <a:off x="1691640" y="1737360"/>
            <a:ext cx="5120640" cy="777240"/>
          </a:xfrm>
          <a:prstGeom prst="rect">
            <a:avLst/>
          </a:prstGeom>
          <a:noFill/>
          <a:ln/>
        </p:spPr>
        <p:txBody>
          <a:bodyPr wrap="square" lIns="0" tIns="0" rIns="0" bIns="0" rtlCol="0" anchor="ctr"/>
          <a:lstStyle/>
          <a:p>
            <a:pPr marL="0" indent="0">
              <a:buNone/>
            </a:pPr>
            <a:r>
              <a:rPr lang="en-US" sz="1800" dirty="0">
                <a:solidFill>
                  <a:srgbClr val="1B2430"/>
                </a:solidFill>
                <a:latin typeface="Calibri" pitchFamily="34" charset="0"/>
                <a:ea typeface="Calibri" pitchFamily="34" charset="-122"/>
                <a:cs typeface="Calibri" pitchFamily="34" charset="-120"/>
              </a:rPr>
              <a:t>RSV is the leading cause of severe lower respiratory infection in infants worldwide</a:t>
            </a:r>
            <a:endParaRPr lang="en-US" sz="1800" dirty="0"/>
          </a:p>
        </p:txBody>
      </p:sp>
      <p:sp>
        <p:nvSpPr>
          <p:cNvPr id="6" name="Shape 3"/>
          <p:cNvSpPr/>
          <p:nvPr/>
        </p:nvSpPr>
        <p:spPr>
          <a:xfrm>
            <a:off x="640080" y="3063240"/>
            <a:ext cx="777240" cy="777240"/>
          </a:xfrm>
          <a:prstGeom prst="ellipse">
            <a:avLst/>
          </a:prstGeom>
          <a:solidFill>
            <a:srgbClr val="C8102E"/>
          </a:solidFill>
          <a:ln w="12700">
            <a:solidFill>
              <a:srgbClr val="C8102E"/>
            </a:solidFill>
            <a:prstDash val="solid"/>
          </a:ln>
        </p:spPr>
        <p:txBody>
          <a:bodyPr/>
          <a:lstStyle/>
          <a:p>
            <a:endParaRPr lang="en-US"/>
          </a:p>
        </p:txBody>
      </p:sp>
      <p:pic>
        <p:nvPicPr>
          <p:cNvPr id="7" name="Image 1" descr="preencoded.png"/>
          <p:cNvPicPr>
            <a:picLocks noChangeAspect="1"/>
          </p:cNvPicPr>
          <p:nvPr/>
        </p:nvPicPr>
        <p:blipFill>
          <a:blip r:embed="rId4"/>
          <a:stretch>
            <a:fillRect/>
          </a:stretch>
        </p:blipFill>
        <p:spPr>
          <a:xfrm>
            <a:off x="811073" y="3234233"/>
            <a:ext cx="435254" cy="435254"/>
          </a:xfrm>
          <a:prstGeom prst="rect">
            <a:avLst/>
          </a:prstGeom>
        </p:spPr>
      </p:pic>
      <p:sp>
        <p:nvSpPr>
          <p:cNvPr id="8" name="Text 4"/>
          <p:cNvSpPr txBox="1"/>
          <p:nvPr/>
        </p:nvSpPr>
        <p:spPr>
          <a:xfrm>
            <a:off x="1691640" y="3063240"/>
            <a:ext cx="5120640" cy="777240"/>
          </a:xfrm>
          <a:prstGeom prst="rect">
            <a:avLst/>
          </a:prstGeom>
          <a:noFill/>
          <a:ln/>
        </p:spPr>
        <p:txBody>
          <a:bodyPr wrap="square" lIns="0" tIns="0" rIns="0" bIns="0" rtlCol="0" anchor="ctr"/>
          <a:lstStyle/>
          <a:p>
            <a:pPr marL="0" indent="0">
              <a:buNone/>
            </a:pPr>
            <a:r>
              <a:rPr lang="en-US" sz="1800" dirty="0">
                <a:solidFill>
                  <a:srgbClr val="1B2430"/>
                </a:solidFill>
                <a:latin typeface="Calibri" pitchFamily="34" charset="0"/>
                <a:ea typeface="Calibri" pitchFamily="34" charset="-122"/>
                <a:cs typeface="Calibri" pitchFamily="34" charset="-120"/>
              </a:rPr>
              <a:t>Maternal RSV vaccines and long-acting monoclonal antibodies are becoming available</a:t>
            </a:r>
            <a:endParaRPr lang="en-US" sz="1800" dirty="0"/>
          </a:p>
        </p:txBody>
      </p:sp>
      <p:sp>
        <p:nvSpPr>
          <p:cNvPr id="9" name="Shape 5"/>
          <p:cNvSpPr/>
          <p:nvPr/>
        </p:nvSpPr>
        <p:spPr>
          <a:xfrm>
            <a:off x="640080" y="4389120"/>
            <a:ext cx="777240" cy="777240"/>
          </a:xfrm>
          <a:prstGeom prst="ellipse">
            <a:avLst/>
          </a:prstGeom>
          <a:solidFill>
            <a:srgbClr val="C8102E"/>
          </a:solidFill>
          <a:ln w="12700">
            <a:solidFill>
              <a:srgbClr val="C8102E"/>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811073" y="4560113"/>
            <a:ext cx="435254" cy="435254"/>
          </a:xfrm>
          <a:prstGeom prst="rect">
            <a:avLst/>
          </a:prstGeom>
        </p:spPr>
      </p:pic>
      <p:sp>
        <p:nvSpPr>
          <p:cNvPr id="11" name="Text 6"/>
          <p:cNvSpPr txBox="1"/>
          <p:nvPr/>
        </p:nvSpPr>
        <p:spPr>
          <a:xfrm>
            <a:off x="1691640" y="4389120"/>
            <a:ext cx="5120640" cy="777240"/>
          </a:xfrm>
          <a:prstGeom prst="rect">
            <a:avLst/>
          </a:prstGeom>
          <a:noFill/>
          <a:ln/>
        </p:spPr>
        <p:txBody>
          <a:bodyPr wrap="square" lIns="0" tIns="0" rIns="0" bIns="0" rtlCol="0" anchor="ctr"/>
          <a:lstStyle/>
          <a:p>
            <a:pPr marL="0" indent="0">
              <a:buNone/>
            </a:pPr>
            <a:r>
              <a:rPr lang="en-US" sz="1800" dirty="0">
                <a:solidFill>
                  <a:srgbClr val="1B2430"/>
                </a:solidFill>
                <a:latin typeface="Calibri" pitchFamily="34" charset="0"/>
                <a:ea typeface="Calibri" pitchFamily="34" charset="-122"/>
                <a:cs typeface="Calibri" pitchFamily="34" charset="-120"/>
              </a:rPr>
              <a:t>With limited supply and budgets, countries need local evidence on which children to prioritise</a:t>
            </a:r>
            <a:endParaRPr lang="en-US" sz="1800" dirty="0"/>
          </a:p>
        </p:txBody>
      </p:sp>
      <p:sp>
        <p:nvSpPr>
          <p:cNvPr id="12" name="Shape 7"/>
          <p:cNvSpPr/>
          <p:nvPr/>
        </p:nvSpPr>
        <p:spPr>
          <a:xfrm>
            <a:off x="7406640" y="1737360"/>
            <a:ext cx="4206240" cy="3840480"/>
          </a:xfrm>
          <a:prstGeom prst="roundRect">
            <a:avLst>
              <a:gd name="adj" fmla="val 2857"/>
            </a:avLst>
          </a:prstGeom>
          <a:solidFill>
            <a:srgbClr val="14213D"/>
          </a:solidFill>
          <a:ln w="12700">
            <a:solidFill>
              <a:srgbClr val="14213D"/>
            </a:solidFill>
            <a:prstDash val="solid"/>
          </a:ln>
        </p:spPr>
        <p:txBody>
          <a:bodyPr/>
          <a:lstStyle/>
          <a:p>
            <a:endParaRPr lang="en-US"/>
          </a:p>
        </p:txBody>
      </p:sp>
      <p:sp>
        <p:nvSpPr>
          <p:cNvPr id="13" name="Shape 8"/>
          <p:cNvSpPr/>
          <p:nvPr/>
        </p:nvSpPr>
        <p:spPr>
          <a:xfrm>
            <a:off x="7772400" y="2057400"/>
            <a:ext cx="685800" cy="685800"/>
          </a:xfrm>
          <a:prstGeom prst="ellipse">
            <a:avLst/>
          </a:prstGeom>
          <a:solidFill>
            <a:srgbClr val="C8102E"/>
          </a:solidFill>
          <a:ln w="12700">
            <a:solidFill>
              <a:srgbClr val="C8102E"/>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7923276" y="2208276"/>
            <a:ext cx="384048" cy="384048"/>
          </a:xfrm>
          <a:prstGeom prst="rect">
            <a:avLst/>
          </a:prstGeom>
        </p:spPr>
      </p:pic>
      <p:sp>
        <p:nvSpPr>
          <p:cNvPr id="15" name="Text 9"/>
          <p:cNvSpPr txBox="1"/>
          <p:nvPr/>
        </p:nvSpPr>
        <p:spPr>
          <a:xfrm>
            <a:off x="7772400" y="2926080"/>
            <a:ext cx="3566160" cy="365760"/>
          </a:xfrm>
          <a:prstGeom prst="rect">
            <a:avLst/>
          </a:prstGeom>
          <a:noFill/>
          <a:ln/>
        </p:spPr>
        <p:txBody>
          <a:bodyPr wrap="square" lIns="0" tIns="0" rIns="0" bIns="0" rtlCol="0" anchor="ctr"/>
          <a:lstStyle/>
          <a:p>
            <a:pPr marL="0" indent="0">
              <a:buNone/>
            </a:pPr>
            <a:r>
              <a:rPr lang="en-US" sz="1300" b="1" kern="0" spc="200" dirty="0">
                <a:solidFill>
                  <a:srgbClr val="F2A7B2"/>
                </a:solidFill>
                <a:latin typeface="Calibri" pitchFamily="34" charset="0"/>
                <a:ea typeface="Calibri" pitchFamily="34" charset="-122"/>
                <a:cs typeface="Calibri" pitchFamily="34" charset="-120"/>
              </a:rPr>
              <a:t>OUR QUESTION</a:t>
            </a:r>
            <a:endParaRPr lang="en-US" sz="1300" dirty="0"/>
          </a:p>
        </p:txBody>
      </p:sp>
      <p:sp>
        <p:nvSpPr>
          <p:cNvPr id="16" name="Text 10"/>
          <p:cNvSpPr txBox="1"/>
          <p:nvPr/>
        </p:nvSpPr>
        <p:spPr>
          <a:xfrm>
            <a:off x="7772400" y="3337560"/>
            <a:ext cx="3566160" cy="2011680"/>
          </a:xfrm>
          <a:prstGeom prst="rect">
            <a:avLst/>
          </a:prstGeom>
          <a:noFill/>
          <a:ln/>
        </p:spPr>
        <p:txBody>
          <a:bodyPr wrap="square" lIns="0" tIns="0" rIns="0" bIns="0" rtlCol="0" anchor="t"/>
          <a:lstStyle/>
          <a:p>
            <a:pPr marL="0" indent="0">
              <a:buNone/>
            </a:pPr>
            <a:r>
              <a:rPr lang="en-US" sz="2200" dirty="0">
                <a:solidFill>
                  <a:srgbClr val="FFFFFF"/>
                </a:solidFill>
                <a:latin typeface="Cambria" pitchFamily="34" charset="0"/>
                <a:ea typeface="Cambria" pitchFamily="34" charset="-122"/>
                <a:cs typeface="Cambria" pitchFamily="34" charset="-120"/>
              </a:rPr>
              <a:t>How much does RSV add to illness, death and hospital use in Kenyan children with heart disease?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We drew on Kenya's national SARI surveillance to find these children</a:t>
            </a:r>
            <a:endParaRPr lang="en-US" sz="3000" dirty="0"/>
          </a:p>
        </p:txBody>
      </p:sp>
      <p:sp>
        <p:nvSpPr>
          <p:cNvPr id="3" name="Shape 1"/>
          <p:cNvSpPr/>
          <p:nvPr/>
        </p:nvSpPr>
        <p:spPr>
          <a:xfrm>
            <a:off x="548640" y="1600200"/>
            <a:ext cx="6035040" cy="896112"/>
          </a:xfrm>
          <a:prstGeom prst="roundRect">
            <a:avLst>
              <a:gd name="adj" fmla="val 10204"/>
            </a:avLst>
          </a:prstGeom>
          <a:solidFill>
            <a:srgbClr val="C9D3E3"/>
          </a:solidFill>
          <a:ln w="12700">
            <a:solidFill>
              <a:srgbClr val="C9D3E3"/>
            </a:solidFill>
            <a:prstDash val="solid"/>
          </a:ln>
        </p:spPr>
        <p:txBody>
          <a:bodyPr/>
          <a:lstStyle/>
          <a:p>
            <a:endParaRPr lang="en-US"/>
          </a:p>
        </p:txBody>
      </p:sp>
      <p:sp>
        <p:nvSpPr>
          <p:cNvPr id="4" name="Text 2"/>
          <p:cNvSpPr txBox="1"/>
          <p:nvPr/>
        </p:nvSpPr>
        <p:spPr>
          <a:xfrm>
            <a:off x="731520" y="1600200"/>
            <a:ext cx="5669280" cy="896112"/>
          </a:xfrm>
          <a:prstGeom prst="rect">
            <a:avLst/>
          </a:prstGeom>
          <a:noFill/>
          <a:ln/>
        </p:spPr>
        <p:txBody>
          <a:bodyPr wrap="square" lIns="0" tIns="0" rIns="0" bIns="0" rtlCol="0" anchor="ctr"/>
          <a:lstStyle/>
          <a:p>
            <a:pPr marL="0" indent="0" algn="ctr">
              <a:buNone/>
            </a:pPr>
            <a:r>
              <a:rPr lang="en-US" sz="2600" b="1" dirty="0">
                <a:solidFill>
                  <a:srgbClr val="1B2430"/>
                </a:solidFill>
                <a:latin typeface="Cambria" pitchFamily="34" charset="0"/>
                <a:ea typeface="Cambria" pitchFamily="34" charset="-122"/>
                <a:cs typeface="Cambria" pitchFamily="34" charset="-120"/>
              </a:rPr>
              <a:t>42,431  </a:t>
            </a:r>
            <a:r>
              <a:rPr lang="en-US" sz="1300" dirty="0">
                <a:solidFill>
                  <a:srgbClr val="1B2430"/>
                </a:solidFill>
                <a:latin typeface="Calibri" pitchFamily="34" charset="0"/>
                <a:ea typeface="Calibri" pitchFamily="34" charset="-122"/>
                <a:cs typeface="Calibri" pitchFamily="34" charset="-120"/>
              </a:rPr>
              <a:t>SARI/ILI surveillance records</a:t>
            </a:r>
            <a:endParaRPr lang="en-US" sz="2600" dirty="0"/>
          </a:p>
        </p:txBody>
      </p:sp>
      <p:sp>
        <p:nvSpPr>
          <p:cNvPr id="5" name="Shape 3"/>
          <p:cNvSpPr/>
          <p:nvPr/>
        </p:nvSpPr>
        <p:spPr>
          <a:xfrm>
            <a:off x="1005840" y="2679192"/>
            <a:ext cx="5120640" cy="896112"/>
          </a:xfrm>
          <a:prstGeom prst="roundRect">
            <a:avLst>
              <a:gd name="adj" fmla="val 10204"/>
            </a:avLst>
          </a:prstGeom>
          <a:solidFill>
            <a:srgbClr val="8FA6CC"/>
          </a:solidFill>
          <a:ln w="12700">
            <a:solidFill>
              <a:srgbClr val="8FA6CC"/>
            </a:solidFill>
            <a:prstDash val="solid"/>
          </a:ln>
        </p:spPr>
        <p:txBody>
          <a:bodyPr/>
          <a:lstStyle/>
          <a:p>
            <a:endParaRPr lang="en-US"/>
          </a:p>
        </p:txBody>
      </p:sp>
      <p:sp>
        <p:nvSpPr>
          <p:cNvPr id="6" name="Text 4"/>
          <p:cNvSpPr txBox="1"/>
          <p:nvPr/>
        </p:nvSpPr>
        <p:spPr>
          <a:xfrm>
            <a:off x="1188720" y="2679192"/>
            <a:ext cx="4754880" cy="896112"/>
          </a:xfrm>
          <a:prstGeom prst="rect">
            <a:avLst/>
          </a:prstGeom>
          <a:noFill/>
          <a:ln/>
        </p:spPr>
        <p:txBody>
          <a:bodyPr wrap="square" lIns="0" tIns="0" rIns="0" bIns="0" rtlCol="0" anchor="ctr"/>
          <a:lstStyle/>
          <a:p>
            <a:pPr marL="0" indent="0" algn="ctr">
              <a:buNone/>
            </a:pPr>
            <a:r>
              <a:rPr lang="en-US" sz="2600" b="1" dirty="0">
                <a:solidFill>
                  <a:srgbClr val="1B2430"/>
                </a:solidFill>
                <a:latin typeface="Cambria" pitchFamily="34" charset="0"/>
                <a:ea typeface="Cambria" pitchFamily="34" charset="-122"/>
                <a:cs typeface="Cambria" pitchFamily="34" charset="-120"/>
              </a:rPr>
              <a:t>3,627  </a:t>
            </a:r>
            <a:r>
              <a:rPr lang="en-US" sz="1300" dirty="0">
                <a:solidFill>
                  <a:srgbClr val="1B2430"/>
                </a:solidFill>
                <a:latin typeface="Calibri" pitchFamily="34" charset="0"/>
                <a:ea typeface="Calibri" pitchFamily="34" charset="-122"/>
                <a:cs typeface="Calibri" pitchFamily="34" charset="-120"/>
              </a:rPr>
              <a:t>tested for RSV by real-time RT-PCR (2024–2026)</a:t>
            </a:r>
            <a:endParaRPr lang="en-US" sz="2600" dirty="0"/>
          </a:p>
        </p:txBody>
      </p:sp>
      <p:sp>
        <p:nvSpPr>
          <p:cNvPr id="7" name="Shape 5"/>
          <p:cNvSpPr/>
          <p:nvPr/>
        </p:nvSpPr>
        <p:spPr>
          <a:xfrm>
            <a:off x="1463040" y="3758184"/>
            <a:ext cx="4206240" cy="896112"/>
          </a:xfrm>
          <a:prstGeom prst="roundRect">
            <a:avLst>
              <a:gd name="adj" fmla="val 10204"/>
            </a:avLst>
          </a:prstGeom>
          <a:solidFill>
            <a:srgbClr val="2F6DB5"/>
          </a:solidFill>
          <a:ln w="12700">
            <a:solidFill>
              <a:srgbClr val="2F6DB5"/>
            </a:solidFill>
            <a:prstDash val="solid"/>
          </a:ln>
        </p:spPr>
        <p:txBody>
          <a:bodyPr/>
          <a:lstStyle/>
          <a:p>
            <a:endParaRPr lang="en-US"/>
          </a:p>
        </p:txBody>
      </p:sp>
      <p:sp>
        <p:nvSpPr>
          <p:cNvPr id="8" name="Text 6"/>
          <p:cNvSpPr txBox="1"/>
          <p:nvPr/>
        </p:nvSpPr>
        <p:spPr>
          <a:xfrm>
            <a:off x="1645920" y="3758184"/>
            <a:ext cx="3840480" cy="896112"/>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279  </a:t>
            </a:r>
            <a:r>
              <a:rPr lang="en-US" sz="1300" dirty="0">
                <a:solidFill>
                  <a:srgbClr val="FFFFFF"/>
                </a:solidFill>
                <a:latin typeface="Calibri" pitchFamily="34" charset="0"/>
                <a:ea typeface="Calibri" pitchFamily="34" charset="-122"/>
                <a:cs typeface="Calibri" pitchFamily="34" charset="-120"/>
              </a:rPr>
              <a:t>with heart disease — median age 7 months</a:t>
            </a:r>
            <a:endParaRPr lang="en-US" sz="2600" dirty="0"/>
          </a:p>
        </p:txBody>
      </p:sp>
      <p:sp>
        <p:nvSpPr>
          <p:cNvPr id="9" name="Shape 7"/>
          <p:cNvSpPr/>
          <p:nvPr/>
        </p:nvSpPr>
        <p:spPr>
          <a:xfrm>
            <a:off x="1920240" y="4837176"/>
            <a:ext cx="3291840" cy="896112"/>
          </a:xfrm>
          <a:prstGeom prst="roundRect">
            <a:avLst>
              <a:gd name="adj" fmla="val 10204"/>
            </a:avLst>
          </a:prstGeom>
          <a:solidFill>
            <a:srgbClr val="C8102E"/>
          </a:solidFill>
          <a:ln w="12700">
            <a:solidFill>
              <a:srgbClr val="C8102E"/>
            </a:solidFill>
            <a:prstDash val="solid"/>
          </a:ln>
        </p:spPr>
        <p:txBody>
          <a:bodyPr/>
          <a:lstStyle/>
          <a:p>
            <a:endParaRPr lang="en-US"/>
          </a:p>
        </p:txBody>
      </p:sp>
      <p:sp>
        <p:nvSpPr>
          <p:cNvPr id="10" name="Text 8"/>
          <p:cNvSpPr txBox="1"/>
          <p:nvPr/>
        </p:nvSpPr>
        <p:spPr>
          <a:xfrm>
            <a:off x="2103120" y="4837176"/>
            <a:ext cx="2926080" cy="896112"/>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55  </a:t>
            </a:r>
            <a:r>
              <a:rPr lang="en-US" sz="1300" dirty="0">
                <a:solidFill>
                  <a:srgbClr val="FFFFFF"/>
                </a:solidFill>
                <a:latin typeface="Calibri" pitchFamily="34" charset="0"/>
                <a:ea typeface="Calibri" pitchFamily="34" charset="-122"/>
                <a:cs typeface="Calibri" pitchFamily="34" charset="-120"/>
              </a:rPr>
              <a:t>RSV-positive</a:t>
            </a:r>
            <a:endParaRPr lang="en-US" sz="2600" dirty="0"/>
          </a:p>
        </p:txBody>
      </p:sp>
      <p:sp>
        <p:nvSpPr>
          <p:cNvPr id="11" name="Shape 9"/>
          <p:cNvSpPr/>
          <p:nvPr/>
        </p:nvSpPr>
        <p:spPr>
          <a:xfrm>
            <a:off x="7223760" y="1645920"/>
            <a:ext cx="594360" cy="594360"/>
          </a:xfrm>
          <a:prstGeom prst="ellipse">
            <a:avLst/>
          </a:prstGeom>
          <a:solidFill>
            <a:srgbClr val="14213D"/>
          </a:solidFill>
          <a:ln w="12700">
            <a:solidFill>
              <a:srgbClr val="14213D"/>
            </a:solidFill>
            <a:prstDash val="solid"/>
          </a:ln>
        </p:spPr>
        <p:txBody>
          <a:bodyPr/>
          <a:lstStyle/>
          <a:p>
            <a:endParaRPr lang="en-US"/>
          </a:p>
        </p:txBody>
      </p:sp>
      <p:pic>
        <p:nvPicPr>
          <p:cNvPr id="12" name="Image 0" descr="preencoded.png"/>
          <p:cNvPicPr>
            <a:picLocks noChangeAspect="1"/>
          </p:cNvPicPr>
          <p:nvPr/>
        </p:nvPicPr>
        <p:blipFill>
          <a:blip r:embed="rId3"/>
          <a:stretch>
            <a:fillRect/>
          </a:stretch>
        </p:blipFill>
        <p:spPr>
          <a:xfrm>
            <a:off x="7354519" y="1776679"/>
            <a:ext cx="332842" cy="332842"/>
          </a:xfrm>
          <a:prstGeom prst="rect">
            <a:avLst/>
          </a:prstGeom>
        </p:spPr>
      </p:pic>
      <p:sp>
        <p:nvSpPr>
          <p:cNvPr id="13" name="Text 10"/>
          <p:cNvSpPr txBox="1"/>
          <p:nvPr/>
        </p:nvSpPr>
        <p:spPr>
          <a:xfrm>
            <a:off x="8001000" y="1600200"/>
            <a:ext cx="3657600" cy="86868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4 sentinel hospitals</a:t>
            </a:r>
            <a:endParaRPr lang="en-US" sz="1600" dirty="0"/>
          </a:p>
          <a:p>
            <a:pPr marL="0" indent="0">
              <a:buNone/>
            </a:pPr>
            <a:r>
              <a:rPr lang="en-US" sz="1300" dirty="0">
                <a:solidFill>
                  <a:srgbClr val="5B6573"/>
                </a:solidFill>
                <a:latin typeface="Calibri" pitchFamily="34" charset="0"/>
                <a:ea typeface="Calibri" pitchFamily="34" charset="-122"/>
                <a:cs typeface="Calibri" pitchFamily="34" charset="-120"/>
              </a:rPr>
              <a:t>Kenyatta National, Mombasa, Siaya and Nyeri</a:t>
            </a:r>
            <a:endParaRPr lang="en-US" sz="1600" dirty="0"/>
          </a:p>
        </p:txBody>
      </p:sp>
      <p:sp>
        <p:nvSpPr>
          <p:cNvPr id="14" name="Shape 11"/>
          <p:cNvSpPr/>
          <p:nvPr/>
        </p:nvSpPr>
        <p:spPr>
          <a:xfrm>
            <a:off x="7223760" y="2724912"/>
            <a:ext cx="594360" cy="594360"/>
          </a:xfrm>
          <a:prstGeom prst="ellipse">
            <a:avLst/>
          </a:prstGeom>
          <a:solidFill>
            <a:srgbClr val="14213D"/>
          </a:solidFill>
          <a:ln w="12700">
            <a:solidFill>
              <a:srgbClr val="14213D"/>
            </a:solidFill>
            <a:prstDash val="solid"/>
          </a:ln>
        </p:spPr>
        <p:txBody>
          <a:bodyPr/>
          <a:lstStyle/>
          <a:p>
            <a:endParaRPr lang="en-US"/>
          </a:p>
        </p:txBody>
      </p:sp>
      <p:pic>
        <p:nvPicPr>
          <p:cNvPr id="15" name="Image 1" descr="preencoded.png"/>
          <p:cNvPicPr>
            <a:picLocks noChangeAspect="1"/>
          </p:cNvPicPr>
          <p:nvPr/>
        </p:nvPicPr>
        <p:blipFill>
          <a:blip r:embed="rId4"/>
          <a:stretch>
            <a:fillRect/>
          </a:stretch>
        </p:blipFill>
        <p:spPr>
          <a:xfrm>
            <a:off x="7354519" y="2855671"/>
            <a:ext cx="332842" cy="332842"/>
          </a:xfrm>
          <a:prstGeom prst="rect">
            <a:avLst/>
          </a:prstGeom>
        </p:spPr>
      </p:pic>
      <p:sp>
        <p:nvSpPr>
          <p:cNvPr id="16" name="Text 12"/>
          <p:cNvSpPr txBox="1"/>
          <p:nvPr/>
        </p:nvSpPr>
        <p:spPr>
          <a:xfrm>
            <a:off x="8001000" y="2679192"/>
            <a:ext cx="3657600" cy="86868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Heart disease</a:t>
            </a:r>
            <a:endParaRPr lang="en-US" sz="1600" dirty="0"/>
          </a:p>
          <a:p>
            <a:pPr marL="0" indent="0">
              <a:buNone/>
            </a:pPr>
            <a:r>
              <a:rPr lang="en-US" sz="1300" dirty="0">
                <a:solidFill>
                  <a:srgbClr val="5B6573"/>
                </a:solidFill>
                <a:latin typeface="Calibri" pitchFamily="34" charset="0"/>
                <a:ea typeface="Calibri" pitchFamily="34" charset="-122"/>
                <a:cs typeface="Calibri" pitchFamily="34" charset="-120"/>
              </a:rPr>
              <a:t>Congenital, rheumatic, cardiomyopathy or heart failure (19 children)</a:t>
            </a:r>
            <a:endParaRPr lang="en-US" sz="1600" dirty="0"/>
          </a:p>
        </p:txBody>
      </p:sp>
      <p:sp>
        <p:nvSpPr>
          <p:cNvPr id="17" name="Shape 13"/>
          <p:cNvSpPr/>
          <p:nvPr/>
        </p:nvSpPr>
        <p:spPr>
          <a:xfrm>
            <a:off x="7223760" y="3803904"/>
            <a:ext cx="594360" cy="594360"/>
          </a:xfrm>
          <a:prstGeom prst="ellipse">
            <a:avLst/>
          </a:prstGeom>
          <a:solidFill>
            <a:srgbClr val="14213D"/>
          </a:solidFill>
          <a:ln w="12700">
            <a:solidFill>
              <a:srgbClr val="14213D"/>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7354519" y="3934663"/>
            <a:ext cx="332842" cy="332842"/>
          </a:xfrm>
          <a:prstGeom prst="rect">
            <a:avLst/>
          </a:prstGeom>
        </p:spPr>
      </p:pic>
      <p:sp>
        <p:nvSpPr>
          <p:cNvPr id="19" name="Text 14"/>
          <p:cNvSpPr txBox="1"/>
          <p:nvPr/>
        </p:nvSpPr>
        <p:spPr>
          <a:xfrm>
            <a:off x="8001000" y="3758184"/>
            <a:ext cx="3657600" cy="86868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Outcomes</a:t>
            </a:r>
            <a:endParaRPr lang="en-US" sz="1600" dirty="0"/>
          </a:p>
          <a:p>
            <a:pPr marL="0" indent="0">
              <a:buNone/>
            </a:pPr>
            <a:r>
              <a:rPr lang="en-US" sz="1300" dirty="0">
                <a:solidFill>
                  <a:srgbClr val="5B6573"/>
                </a:solidFill>
                <a:latin typeface="Calibri" pitchFamily="34" charset="0"/>
                <a:ea typeface="Calibri" pitchFamily="34" charset="-122"/>
                <a:cs typeface="Calibri" pitchFamily="34" charset="-120"/>
              </a:rPr>
              <a:t>Hypoxaemia, oxygen, ICU/acute care, ventilation, death, bed-days</a:t>
            </a:r>
            <a:endParaRPr lang="en-US" sz="1600" dirty="0"/>
          </a:p>
        </p:txBody>
      </p:sp>
      <p:sp>
        <p:nvSpPr>
          <p:cNvPr id="20" name="Shape 15"/>
          <p:cNvSpPr/>
          <p:nvPr/>
        </p:nvSpPr>
        <p:spPr>
          <a:xfrm>
            <a:off x="7223760" y="4882896"/>
            <a:ext cx="594360" cy="594360"/>
          </a:xfrm>
          <a:prstGeom prst="ellipse">
            <a:avLst/>
          </a:prstGeom>
          <a:solidFill>
            <a:srgbClr val="14213D"/>
          </a:solidFill>
          <a:ln w="12700">
            <a:solidFill>
              <a:srgbClr val="14213D"/>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7354519" y="5013655"/>
            <a:ext cx="332842" cy="332842"/>
          </a:xfrm>
          <a:prstGeom prst="rect">
            <a:avLst/>
          </a:prstGeom>
        </p:spPr>
      </p:pic>
      <p:sp>
        <p:nvSpPr>
          <p:cNvPr id="22" name="Text 16"/>
          <p:cNvSpPr txBox="1"/>
          <p:nvPr/>
        </p:nvSpPr>
        <p:spPr>
          <a:xfrm>
            <a:off x="8001000" y="4837176"/>
            <a:ext cx="3657600" cy="86868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Analysis</a:t>
            </a:r>
            <a:endParaRPr lang="en-US" sz="1600" dirty="0"/>
          </a:p>
          <a:p>
            <a:pPr marL="0" indent="0">
              <a:buNone/>
            </a:pPr>
            <a:r>
              <a:rPr lang="en-US" sz="1300" dirty="0">
                <a:solidFill>
                  <a:srgbClr val="5B6573"/>
                </a:solidFill>
                <a:latin typeface="Calibri" pitchFamily="34" charset="0"/>
                <a:ea typeface="Calibri" pitchFamily="34" charset="-122"/>
                <a:cs typeface="Calibri" pitchFamily="34" charset="-120"/>
              </a:rPr>
              <a:t>Logistic regression adjusted for age, sex and site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RSV was found in 1 in 5 children with heart disease, and most were infants</a:t>
            </a:r>
            <a:endParaRPr lang="en-US" sz="3000" dirty="0"/>
          </a:p>
        </p:txBody>
      </p:sp>
      <p:graphicFrame>
        <p:nvGraphicFramePr>
          <p:cNvPr id="3" name="Chart 0"/>
          <p:cNvGraphicFramePr/>
          <p:nvPr/>
        </p:nvGraphicFramePr>
        <p:xfrm>
          <a:off x="457200" y="1554480"/>
          <a:ext cx="676656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680960" y="1737360"/>
            <a:ext cx="3931920" cy="4114800"/>
          </a:xfrm>
          <a:prstGeom prst="roundRect">
            <a:avLst>
              <a:gd name="adj" fmla="val 2791"/>
            </a:avLst>
          </a:prstGeom>
          <a:solidFill>
            <a:srgbClr val="F4F6FA"/>
          </a:solidFill>
          <a:ln w="12700">
            <a:solidFill>
              <a:srgbClr val="F4F6FA"/>
            </a:solidFill>
            <a:prstDash val="solid"/>
          </a:ln>
        </p:spPr>
        <p:txBody>
          <a:bodyPr/>
          <a:lstStyle/>
          <a:p>
            <a:endParaRPr lang="en-US"/>
          </a:p>
        </p:txBody>
      </p:sp>
      <p:sp>
        <p:nvSpPr>
          <p:cNvPr id="5" name="Text 2"/>
          <p:cNvSpPr txBox="1"/>
          <p:nvPr/>
        </p:nvSpPr>
        <p:spPr>
          <a:xfrm>
            <a:off x="8001000" y="1965960"/>
            <a:ext cx="3291840" cy="1005840"/>
          </a:xfrm>
          <a:prstGeom prst="rect">
            <a:avLst/>
          </a:prstGeom>
          <a:noFill/>
          <a:ln/>
        </p:spPr>
        <p:txBody>
          <a:bodyPr wrap="square" lIns="0" tIns="0" rIns="0" bIns="0" rtlCol="0" anchor="ctr"/>
          <a:lstStyle/>
          <a:p>
            <a:pPr marL="0" indent="0">
              <a:buNone/>
            </a:pPr>
            <a:r>
              <a:rPr lang="en-US" sz="6000" b="1" dirty="0">
                <a:solidFill>
                  <a:srgbClr val="C8102E"/>
                </a:solidFill>
                <a:latin typeface="Cambria" pitchFamily="34" charset="0"/>
                <a:ea typeface="Cambria" pitchFamily="34" charset="-122"/>
                <a:cs typeface="Cambria" pitchFamily="34" charset="-120"/>
              </a:rPr>
              <a:t>19.7%</a:t>
            </a:r>
            <a:endParaRPr lang="en-US" sz="6000" dirty="0"/>
          </a:p>
        </p:txBody>
      </p:sp>
      <p:sp>
        <p:nvSpPr>
          <p:cNvPr id="6" name="Text 3"/>
          <p:cNvSpPr txBox="1"/>
          <p:nvPr/>
        </p:nvSpPr>
        <p:spPr>
          <a:xfrm>
            <a:off x="8001000" y="3017520"/>
            <a:ext cx="3291840" cy="822960"/>
          </a:xfrm>
          <a:prstGeom prst="rect">
            <a:avLst/>
          </a:prstGeom>
          <a:noFill/>
          <a:ln/>
        </p:spPr>
        <p:txBody>
          <a:bodyPr wrap="square" lIns="0" tIns="0" rIns="0" bIns="0" rtlCol="0" anchor="t"/>
          <a:lstStyle/>
          <a:p>
            <a:pPr marL="0" indent="0">
              <a:buNone/>
            </a:pPr>
            <a:r>
              <a:rPr lang="en-US" sz="1600" dirty="0">
                <a:solidFill>
                  <a:srgbClr val="1B2430"/>
                </a:solidFill>
                <a:latin typeface="Calibri" pitchFamily="34" charset="0"/>
                <a:ea typeface="Calibri" pitchFamily="34" charset="-122"/>
                <a:cs typeface="Calibri" pitchFamily="34" charset="-120"/>
              </a:rPr>
              <a:t>of children with heart disease had RSV (55/279; 95% CI 15.5–24.8)</a:t>
            </a:r>
            <a:endParaRPr lang="en-US" sz="1600" dirty="0"/>
          </a:p>
        </p:txBody>
      </p:sp>
      <p:sp>
        <p:nvSpPr>
          <p:cNvPr id="7" name="Shape 4"/>
          <p:cNvSpPr/>
          <p:nvPr/>
        </p:nvSpPr>
        <p:spPr>
          <a:xfrm>
            <a:off x="8001000" y="4069080"/>
            <a:ext cx="594360" cy="594360"/>
          </a:xfrm>
          <a:prstGeom prst="ellipse">
            <a:avLst/>
          </a:prstGeom>
          <a:solidFill>
            <a:srgbClr val="C8102E"/>
          </a:solidFill>
          <a:ln w="12700">
            <a:solidFill>
              <a:srgbClr val="C8102E"/>
            </a:solidFill>
            <a:prstDash val="solid"/>
          </a:ln>
        </p:spPr>
        <p:txBody>
          <a:bodyPr/>
          <a:lstStyle/>
          <a:p>
            <a:endParaRPr lang="en-US"/>
          </a:p>
        </p:txBody>
      </p:sp>
      <p:pic>
        <p:nvPicPr>
          <p:cNvPr id="8" name="Image 0" descr="preencoded.png"/>
          <p:cNvPicPr>
            <a:picLocks noChangeAspect="1"/>
          </p:cNvPicPr>
          <p:nvPr/>
        </p:nvPicPr>
        <p:blipFill>
          <a:blip r:embed="rId4"/>
          <a:stretch>
            <a:fillRect/>
          </a:stretch>
        </p:blipFill>
        <p:spPr>
          <a:xfrm>
            <a:off x="8131759" y="4199839"/>
            <a:ext cx="332842" cy="332842"/>
          </a:xfrm>
          <a:prstGeom prst="rect">
            <a:avLst/>
          </a:prstGeom>
        </p:spPr>
      </p:pic>
      <p:sp>
        <p:nvSpPr>
          <p:cNvPr id="9" name="Text 5"/>
          <p:cNvSpPr txBox="1"/>
          <p:nvPr/>
        </p:nvSpPr>
        <p:spPr>
          <a:xfrm>
            <a:off x="8732520" y="3977640"/>
            <a:ext cx="2651760" cy="1463040"/>
          </a:xfrm>
          <a:prstGeom prst="rect">
            <a:avLst/>
          </a:prstGeom>
          <a:noFill/>
          <a:ln/>
        </p:spPr>
        <p:txBody>
          <a:bodyPr wrap="square" lIns="0" tIns="0" rIns="0" bIns="0" rtlCol="0" anchor="t"/>
          <a:lstStyle/>
          <a:p>
            <a:pPr marL="0" indent="0">
              <a:buNone/>
            </a:pPr>
            <a:r>
              <a:rPr lang="en-US" sz="1400" dirty="0">
                <a:solidFill>
                  <a:srgbClr val="5B6573"/>
                </a:solidFill>
                <a:latin typeface="Calibri" pitchFamily="34" charset="0"/>
                <a:ea typeface="Calibri" pitchFamily="34" charset="-122"/>
                <a:cs typeface="Calibri" pitchFamily="34" charset="-120"/>
              </a:rPr>
              <a:t>Among infants under 12 months, the figure was 22.3% — similar to children without heart disease.</a:t>
            </a:r>
            <a:endParaRPr lang="en-US" sz="1400" dirty="0"/>
          </a:p>
        </p:txBody>
      </p:sp>
      <p:sp>
        <p:nvSpPr>
          <p:cNvPr id="10" name="Text 6"/>
          <p:cNvSpPr txBox="1"/>
          <p:nvPr/>
        </p:nvSpPr>
        <p:spPr>
          <a:xfrm>
            <a:off x="548640" y="6355080"/>
            <a:ext cx="11094415" cy="274320"/>
          </a:xfrm>
          <a:prstGeom prst="rect">
            <a:avLst/>
          </a:prstGeom>
          <a:noFill/>
          <a:ln/>
        </p:spPr>
        <p:txBody>
          <a:bodyPr wrap="square" lIns="0" tIns="0" rIns="0" bIns="0" rtlCol="0" anchor="ctr"/>
          <a:lstStyle/>
          <a:p>
            <a:pPr marL="0" indent="0">
              <a:buNone/>
            </a:pPr>
            <a:r>
              <a:rPr lang="en-US" sz="1000" i="1" dirty="0">
                <a:solidFill>
                  <a:srgbClr val="5B6573"/>
                </a:solidFill>
                <a:latin typeface="Calibri" pitchFamily="34" charset="0"/>
                <a:ea typeface="Calibri" pitchFamily="34" charset="-122"/>
                <a:cs typeface="Calibri" pitchFamily="34" charset="-120"/>
              </a:rPr>
              <a:t>95% CI by the Wilson method. Heart disease vs none: Fisher's exact p = 0.30. Heart failure subgroup: 3 of 19 children.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Once in hospital, RSV did not make them sicker: their hearts set the course</a:t>
            </a:r>
            <a:endParaRPr lang="en-US" sz="3000" dirty="0"/>
          </a:p>
        </p:txBody>
      </p:sp>
      <p:graphicFrame>
        <p:nvGraphicFramePr>
          <p:cNvPr id="3" name="Chart 0"/>
          <p:cNvGraphicFramePr/>
          <p:nvPr/>
        </p:nvGraphicFramePr>
        <p:xfrm>
          <a:off x="457200" y="1463040"/>
          <a:ext cx="7223760" cy="46634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8046720" y="1645920"/>
            <a:ext cx="3566160" cy="4297680"/>
          </a:xfrm>
          <a:prstGeom prst="roundRect">
            <a:avLst>
              <a:gd name="adj" fmla="val 3077"/>
            </a:avLst>
          </a:prstGeom>
          <a:solidFill>
            <a:srgbClr val="F4F6FA"/>
          </a:solidFill>
          <a:ln w="12700">
            <a:solidFill>
              <a:srgbClr val="F4F6FA"/>
            </a:solidFill>
            <a:prstDash val="solid"/>
          </a:ln>
        </p:spPr>
        <p:txBody>
          <a:bodyPr/>
          <a:lstStyle/>
          <a:p>
            <a:endParaRPr lang="en-US"/>
          </a:p>
        </p:txBody>
      </p:sp>
      <p:sp>
        <p:nvSpPr>
          <p:cNvPr id="5" name="Text 2"/>
          <p:cNvSpPr txBox="1"/>
          <p:nvPr/>
        </p:nvSpPr>
        <p:spPr>
          <a:xfrm>
            <a:off x="8321040" y="1828800"/>
            <a:ext cx="3108960" cy="365760"/>
          </a:xfrm>
          <a:prstGeom prst="rect">
            <a:avLst/>
          </a:prstGeom>
          <a:noFill/>
          <a:ln/>
        </p:spPr>
        <p:txBody>
          <a:bodyPr wrap="square" lIns="0" tIns="0" rIns="0" bIns="0" rtlCol="0" anchor="ctr"/>
          <a:lstStyle/>
          <a:p>
            <a:pPr marL="0" indent="0">
              <a:buNone/>
            </a:pPr>
            <a:r>
              <a:rPr lang="en-US" sz="1400" b="1" dirty="0">
                <a:solidFill>
                  <a:srgbClr val="5B6573"/>
                </a:solidFill>
                <a:latin typeface="Calibri" pitchFamily="34" charset="0"/>
                <a:ea typeface="Calibri" pitchFamily="34" charset="-122"/>
                <a:cs typeface="Calibri" pitchFamily="34" charset="-120"/>
              </a:rPr>
              <a:t>RSV-positive vs RSV-negative</a:t>
            </a:r>
            <a:endParaRPr lang="en-US" sz="1400" dirty="0"/>
          </a:p>
        </p:txBody>
      </p:sp>
      <p:sp>
        <p:nvSpPr>
          <p:cNvPr id="6" name="Text 3"/>
          <p:cNvSpPr txBox="1"/>
          <p:nvPr/>
        </p:nvSpPr>
        <p:spPr>
          <a:xfrm>
            <a:off x="8321040" y="2331720"/>
            <a:ext cx="3108960" cy="77724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Severe illness</a:t>
            </a:r>
            <a:endParaRPr lang="en-US" sz="1600" dirty="0"/>
          </a:p>
          <a:p>
            <a:pPr marL="0" indent="0">
              <a:buNone/>
            </a:pPr>
            <a:r>
              <a:rPr lang="en-US" sz="1500" dirty="0">
                <a:solidFill>
                  <a:srgbClr val="1B2430"/>
                </a:solidFill>
                <a:latin typeface="Calibri" pitchFamily="34" charset="0"/>
                <a:ea typeface="Calibri" pitchFamily="34" charset="-122"/>
                <a:cs typeface="Calibri" pitchFamily="34" charset="-120"/>
              </a:rPr>
              <a:t>aOR 0.98 (0.53–1.81)</a:t>
            </a:r>
            <a:endParaRPr lang="en-US" sz="1600" dirty="0"/>
          </a:p>
        </p:txBody>
      </p:sp>
      <p:sp>
        <p:nvSpPr>
          <p:cNvPr id="7" name="Text 4"/>
          <p:cNvSpPr txBox="1"/>
          <p:nvPr/>
        </p:nvSpPr>
        <p:spPr>
          <a:xfrm>
            <a:off x="8321040" y="3200400"/>
            <a:ext cx="3108960" cy="77724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ICU / acute care</a:t>
            </a:r>
            <a:endParaRPr lang="en-US" sz="1600" dirty="0"/>
          </a:p>
          <a:p>
            <a:pPr marL="0" indent="0">
              <a:buNone/>
            </a:pPr>
            <a:r>
              <a:rPr lang="en-US" sz="1500" dirty="0">
                <a:solidFill>
                  <a:srgbClr val="1B2430"/>
                </a:solidFill>
                <a:latin typeface="Calibri" pitchFamily="34" charset="0"/>
                <a:ea typeface="Calibri" pitchFamily="34" charset="-122"/>
                <a:cs typeface="Calibri" pitchFamily="34" charset="-120"/>
              </a:rPr>
              <a:t>aOR 1.01 (0.54–1.89)</a:t>
            </a:r>
            <a:endParaRPr lang="en-US" sz="1600" dirty="0"/>
          </a:p>
        </p:txBody>
      </p:sp>
      <p:sp>
        <p:nvSpPr>
          <p:cNvPr id="8" name="Text 5"/>
          <p:cNvSpPr txBox="1"/>
          <p:nvPr/>
        </p:nvSpPr>
        <p:spPr>
          <a:xfrm>
            <a:off x="8321040" y="4069080"/>
            <a:ext cx="3108960" cy="77724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Death</a:t>
            </a:r>
            <a:endParaRPr lang="en-US" sz="1600" dirty="0"/>
          </a:p>
          <a:p>
            <a:pPr marL="0" indent="0">
              <a:buNone/>
            </a:pPr>
            <a:r>
              <a:rPr lang="en-US" sz="1500" dirty="0">
                <a:solidFill>
                  <a:srgbClr val="1B2430"/>
                </a:solidFill>
                <a:latin typeface="Calibri" pitchFamily="34" charset="0"/>
                <a:ea typeface="Calibri" pitchFamily="34" charset="-122"/>
                <a:cs typeface="Calibri" pitchFamily="34" charset="-120"/>
              </a:rPr>
              <a:t>aOR 0.68 (0.27–1.74)</a:t>
            </a:r>
            <a:endParaRPr lang="en-US" sz="1600" dirty="0"/>
          </a:p>
        </p:txBody>
      </p:sp>
      <p:sp>
        <p:nvSpPr>
          <p:cNvPr id="9" name="Text 6"/>
          <p:cNvSpPr txBox="1"/>
          <p:nvPr/>
        </p:nvSpPr>
        <p:spPr>
          <a:xfrm>
            <a:off x="8321040" y="4937760"/>
            <a:ext cx="3108960" cy="777240"/>
          </a:xfrm>
          <a:prstGeom prst="rect">
            <a:avLst/>
          </a:prstGeom>
          <a:noFill/>
          <a:ln/>
        </p:spPr>
        <p:txBody>
          <a:bodyPr wrap="square" lIns="0" tIns="0" rIns="0" bIns="0" rtlCol="0" anchor="t"/>
          <a:lstStyle/>
          <a:p>
            <a:pPr marL="0" indent="0">
              <a:buNone/>
            </a:pPr>
            <a:r>
              <a:rPr lang="en-US" sz="1600" b="1" dirty="0">
                <a:solidFill>
                  <a:srgbClr val="1B2430"/>
                </a:solidFill>
                <a:latin typeface="Calibri" pitchFamily="34" charset="0"/>
                <a:ea typeface="Calibri" pitchFamily="34" charset="-122"/>
                <a:cs typeface="Calibri" pitchFamily="34" charset="-120"/>
              </a:rPr>
              <a:t>Median stay</a:t>
            </a:r>
            <a:endParaRPr lang="en-US" sz="1600" dirty="0"/>
          </a:p>
          <a:p>
            <a:pPr marL="0" indent="0">
              <a:buNone/>
            </a:pPr>
            <a:r>
              <a:rPr lang="en-US" sz="1500" dirty="0">
                <a:solidFill>
                  <a:srgbClr val="1B2430"/>
                </a:solidFill>
                <a:latin typeface="Calibri" pitchFamily="34" charset="0"/>
                <a:ea typeface="Calibri" pitchFamily="34" charset="-122"/>
                <a:cs typeface="Calibri" pitchFamily="34" charset="-120"/>
              </a:rPr>
              <a:t>14 vs 15 days</a:t>
            </a:r>
            <a:endParaRPr lang="en-US" sz="1600" dirty="0"/>
          </a:p>
        </p:txBody>
      </p:sp>
      <p:sp>
        <p:nvSpPr>
          <p:cNvPr id="10" name="Text 7"/>
          <p:cNvSpPr txBox="1"/>
          <p:nvPr/>
        </p:nvSpPr>
        <p:spPr>
          <a:xfrm>
            <a:off x="548640" y="6355080"/>
            <a:ext cx="11094415" cy="274320"/>
          </a:xfrm>
          <a:prstGeom prst="rect">
            <a:avLst/>
          </a:prstGeom>
          <a:noFill/>
          <a:ln/>
        </p:spPr>
        <p:txBody>
          <a:bodyPr wrap="square" lIns="0" tIns="0" rIns="0" bIns="0" rtlCol="0" anchor="ctr"/>
          <a:lstStyle/>
          <a:p>
            <a:pPr marL="0" indent="0">
              <a:buNone/>
            </a:pPr>
            <a:r>
              <a:rPr lang="en-US" sz="1000" i="1" dirty="0">
                <a:solidFill>
                  <a:srgbClr val="5B6573"/>
                </a:solidFill>
                <a:latin typeface="Calibri" pitchFamily="34" charset="0"/>
                <a:ea typeface="Calibri" pitchFamily="34" charset="-122"/>
                <a:cs typeface="Calibri" pitchFamily="34" charset="-120"/>
              </a:rPr>
              <a:t>* SpO₂ &lt;90%, ICU/acute care, ventilation or death. aOR adjusted for age, sex and site. Small numbers: absence of a difference is not proof of no effect.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Each RSV admission kept a child with heart disease in hospital for 2–3 weeks</a:t>
            </a:r>
            <a:endParaRPr lang="en-US" sz="3000" dirty="0"/>
          </a:p>
        </p:txBody>
      </p:sp>
      <p:sp>
        <p:nvSpPr>
          <p:cNvPr id="3" name="Shape 1"/>
          <p:cNvSpPr/>
          <p:nvPr/>
        </p:nvSpPr>
        <p:spPr>
          <a:xfrm>
            <a:off x="548640" y="1645920"/>
            <a:ext cx="5394960" cy="1965960"/>
          </a:xfrm>
          <a:prstGeom prst="roundRect">
            <a:avLst>
              <a:gd name="adj" fmla="val 5581"/>
            </a:avLst>
          </a:prstGeom>
          <a:solidFill>
            <a:srgbClr val="F4F6FA"/>
          </a:solidFill>
          <a:ln w="12700">
            <a:solidFill>
              <a:srgbClr val="F4F6FA"/>
            </a:solidFill>
            <a:prstDash val="solid"/>
          </a:ln>
        </p:spPr>
        <p:txBody>
          <a:bodyPr/>
          <a:lstStyle/>
          <a:p>
            <a:endParaRPr lang="en-US"/>
          </a:p>
        </p:txBody>
      </p:sp>
      <p:sp>
        <p:nvSpPr>
          <p:cNvPr id="4" name="Shape 2"/>
          <p:cNvSpPr/>
          <p:nvPr/>
        </p:nvSpPr>
        <p:spPr>
          <a:xfrm>
            <a:off x="868680" y="2240280"/>
            <a:ext cx="777240" cy="777240"/>
          </a:xfrm>
          <a:prstGeom prst="ellipse">
            <a:avLst/>
          </a:prstGeom>
          <a:solidFill>
            <a:srgbClr val="C8102E"/>
          </a:solidFill>
          <a:ln w="12700">
            <a:solidFill>
              <a:srgbClr val="C8102E"/>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39673" y="2411273"/>
            <a:ext cx="435254" cy="435254"/>
          </a:xfrm>
          <a:prstGeom prst="rect">
            <a:avLst/>
          </a:prstGeom>
        </p:spPr>
      </p:pic>
      <p:sp>
        <p:nvSpPr>
          <p:cNvPr id="6" name="Text 3"/>
          <p:cNvSpPr txBox="1"/>
          <p:nvPr/>
        </p:nvSpPr>
        <p:spPr>
          <a:xfrm>
            <a:off x="1920240" y="1920240"/>
            <a:ext cx="3749040" cy="868680"/>
          </a:xfrm>
          <a:prstGeom prst="rect">
            <a:avLst/>
          </a:prstGeom>
          <a:noFill/>
          <a:ln/>
        </p:spPr>
        <p:txBody>
          <a:bodyPr wrap="square" lIns="0" tIns="0" rIns="0" bIns="0" rtlCol="0" anchor="ctr"/>
          <a:lstStyle/>
          <a:p>
            <a:pPr marL="0" indent="0">
              <a:buNone/>
            </a:pPr>
            <a:r>
              <a:rPr lang="en-US" sz="4400" b="1" dirty="0">
                <a:solidFill>
                  <a:srgbClr val="C8102E"/>
                </a:solidFill>
                <a:latin typeface="Cambria" pitchFamily="34" charset="0"/>
                <a:ea typeface="Cambria" pitchFamily="34" charset="-122"/>
                <a:cs typeface="Cambria" pitchFamily="34" charset="-120"/>
              </a:rPr>
              <a:t>1,201</a:t>
            </a:r>
            <a:endParaRPr lang="en-US" sz="4400" dirty="0"/>
          </a:p>
        </p:txBody>
      </p:sp>
      <p:sp>
        <p:nvSpPr>
          <p:cNvPr id="7" name="Text 4"/>
          <p:cNvSpPr txBox="1"/>
          <p:nvPr/>
        </p:nvSpPr>
        <p:spPr>
          <a:xfrm>
            <a:off x="1920240" y="2788920"/>
            <a:ext cx="3749040" cy="640080"/>
          </a:xfrm>
          <a:prstGeom prst="rect">
            <a:avLst/>
          </a:prstGeom>
          <a:noFill/>
          <a:ln/>
        </p:spPr>
        <p:txBody>
          <a:bodyPr wrap="square" lIns="0" tIns="0" rIns="0" bIns="0" rtlCol="0" anchor="t"/>
          <a:lstStyle/>
          <a:p>
            <a:pPr marL="0" indent="0">
              <a:buNone/>
            </a:pPr>
            <a:r>
              <a:rPr lang="en-US" sz="1500" dirty="0">
                <a:solidFill>
                  <a:srgbClr val="1B2430"/>
                </a:solidFill>
                <a:latin typeface="Calibri" pitchFamily="34" charset="0"/>
                <a:ea typeface="Calibri" pitchFamily="34" charset="-122"/>
                <a:cs typeface="Calibri" pitchFamily="34" charset="-120"/>
              </a:rPr>
              <a:t>hospital bed-days used by 55 RSV-positive admissions</a:t>
            </a:r>
            <a:endParaRPr lang="en-US" sz="1500" dirty="0"/>
          </a:p>
        </p:txBody>
      </p:sp>
      <p:sp>
        <p:nvSpPr>
          <p:cNvPr id="8" name="Shape 5"/>
          <p:cNvSpPr/>
          <p:nvPr/>
        </p:nvSpPr>
        <p:spPr>
          <a:xfrm>
            <a:off x="6172200" y="1645920"/>
            <a:ext cx="5394960" cy="1965960"/>
          </a:xfrm>
          <a:prstGeom prst="roundRect">
            <a:avLst>
              <a:gd name="adj" fmla="val 5581"/>
            </a:avLst>
          </a:prstGeom>
          <a:solidFill>
            <a:srgbClr val="F4F6FA"/>
          </a:solidFill>
          <a:ln w="12700">
            <a:solidFill>
              <a:srgbClr val="F4F6FA"/>
            </a:solidFill>
            <a:prstDash val="solid"/>
          </a:ln>
        </p:spPr>
        <p:txBody>
          <a:bodyPr/>
          <a:lstStyle/>
          <a:p>
            <a:endParaRPr lang="en-US"/>
          </a:p>
        </p:txBody>
      </p:sp>
      <p:sp>
        <p:nvSpPr>
          <p:cNvPr id="9" name="Shape 6"/>
          <p:cNvSpPr/>
          <p:nvPr/>
        </p:nvSpPr>
        <p:spPr>
          <a:xfrm>
            <a:off x="6492240" y="2240280"/>
            <a:ext cx="777240" cy="777240"/>
          </a:xfrm>
          <a:prstGeom prst="ellipse">
            <a:avLst/>
          </a:prstGeom>
          <a:solidFill>
            <a:srgbClr val="C8102E"/>
          </a:solidFill>
          <a:ln w="12700">
            <a:solidFill>
              <a:srgbClr val="C8102E"/>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663233" y="2411273"/>
            <a:ext cx="435254" cy="435254"/>
          </a:xfrm>
          <a:prstGeom prst="rect">
            <a:avLst/>
          </a:prstGeom>
        </p:spPr>
      </p:pic>
      <p:sp>
        <p:nvSpPr>
          <p:cNvPr id="11" name="Text 7"/>
          <p:cNvSpPr txBox="1"/>
          <p:nvPr/>
        </p:nvSpPr>
        <p:spPr>
          <a:xfrm>
            <a:off x="7543800" y="1920240"/>
            <a:ext cx="3749040" cy="868680"/>
          </a:xfrm>
          <a:prstGeom prst="rect">
            <a:avLst/>
          </a:prstGeom>
          <a:noFill/>
          <a:ln/>
        </p:spPr>
        <p:txBody>
          <a:bodyPr wrap="square" lIns="0" tIns="0" rIns="0" bIns="0" rtlCol="0" anchor="ctr"/>
          <a:lstStyle/>
          <a:p>
            <a:pPr marL="0" indent="0">
              <a:buNone/>
            </a:pPr>
            <a:r>
              <a:rPr lang="en-US" sz="4400" b="1" dirty="0">
                <a:solidFill>
                  <a:srgbClr val="C8102E"/>
                </a:solidFill>
                <a:latin typeface="Cambria" pitchFamily="34" charset="0"/>
                <a:ea typeface="Cambria" pitchFamily="34" charset="-122"/>
                <a:cs typeface="Cambria" pitchFamily="34" charset="-120"/>
              </a:rPr>
              <a:t>14–22</a:t>
            </a:r>
            <a:endParaRPr lang="en-US" sz="4400" dirty="0"/>
          </a:p>
        </p:txBody>
      </p:sp>
      <p:sp>
        <p:nvSpPr>
          <p:cNvPr id="12" name="Text 8"/>
          <p:cNvSpPr txBox="1"/>
          <p:nvPr/>
        </p:nvSpPr>
        <p:spPr>
          <a:xfrm>
            <a:off x="7543800" y="2788920"/>
            <a:ext cx="3749040" cy="640080"/>
          </a:xfrm>
          <a:prstGeom prst="rect">
            <a:avLst/>
          </a:prstGeom>
          <a:noFill/>
          <a:ln/>
        </p:spPr>
        <p:txBody>
          <a:bodyPr wrap="square" lIns="0" tIns="0" rIns="0" bIns="0" rtlCol="0" anchor="t"/>
          <a:lstStyle/>
          <a:p>
            <a:pPr marL="0" indent="0">
              <a:buNone/>
            </a:pPr>
            <a:r>
              <a:rPr lang="en-US" sz="1500" dirty="0">
                <a:solidFill>
                  <a:srgbClr val="1B2430"/>
                </a:solidFill>
                <a:latin typeface="Calibri" pitchFamily="34" charset="0"/>
                <a:ea typeface="Calibri" pitchFamily="34" charset="-122"/>
                <a:cs typeface="Calibri" pitchFamily="34" charset="-120"/>
              </a:rPr>
              <a:t>days per admission (median 14, mean 22)</a:t>
            </a:r>
            <a:endParaRPr lang="en-US" sz="1500" dirty="0"/>
          </a:p>
        </p:txBody>
      </p:sp>
      <p:sp>
        <p:nvSpPr>
          <p:cNvPr id="13" name="Shape 9"/>
          <p:cNvSpPr/>
          <p:nvPr/>
        </p:nvSpPr>
        <p:spPr>
          <a:xfrm>
            <a:off x="548640" y="3886200"/>
            <a:ext cx="5394960" cy="1965960"/>
          </a:xfrm>
          <a:prstGeom prst="roundRect">
            <a:avLst>
              <a:gd name="adj" fmla="val 5581"/>
            </a:avLst>
          </a:prstGeom>
          <a:solidFill>
            <a:srgbClr val="F4F6FA"/>
          </a:solidFill>
          <a:ln w="12700">
            <a:solidFill>
              <a:srgbClr val="F4F6FA"/>
            </a:solidFill>
            <a:prstDash val="solid"/>
          </a:ln>
        </p:spPr>
        <p:txBody>
          <a:bodyPr/>
          <a:lstStyle/>
          <a:p>
            <a:endParaRPr lang="en-US"/>
          </a:p>
        </p:txBody>
      </p:sp>
      <p:sp>
        <p:nvSpPr>
          <p:cNvPr id="14" name="Shape 10"/>
          <p:cNvSpPr/>
          <p:nvPr/>
        </p:nvSpPr>
        <p:spPr>
          <a:xfrm>
            <a:off x="868680" y="4480560"/>
            <a:ext cx="777240" cy="777240"/>
          </a:xfrm>
          <a:prstGeom prst="ellipse">
            <a:avLst/>
          </a:prstGeom>
          <a:solidFill>
            <a:srgbClr val="C8102E"/>
          </a:solidFill>
          <a:ln w="12700">
            <a:solidFill>
              <a:srgbClr val="C8102E"/>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1039673" y="4651553"/>
            <a:ext cx="435254" cy="435254"/>
          </a:xfrm>
          <a:prstGeom prst="rect">
            <a:avLst/>
          </a:prstGeom>
        </p:spPr>
      </p:pic>
      <p:sp>
        <p:nvSpPr>
          <p:cNvPr id="16" name="Text 11"/>
          <p:cNvSpPr txBox="1"/>
          <p:nvPr/>
        </p:nvSpPr>
        <p:spPr>
          <a:xfrm>
            <a:off x="1920240" y="4160520"/>
            <a:ext cx="3749040" cy="868680"/>
          </a:xfrm>
          <a:prstGeom prst="rect">
            <a:avLst/>
          </a:prstGeom>
          <a:noFill/>
          <a:ln/>
        </p:spPr>
        <p:txBody>
          <a:bodyPr wrap="square" lIns="0" tIns="0" rIns="0" bIns="0" rtlCol="0" anchor="ctr"/>
          <a:lstStyle/>
          <a:p>
            <a:pPr marL="0" indent="0">
              <a:buNone/>
            </a:pPr>
            <a:r>
              <a:rPr lang="en-US" sz="4400" b="1" dirty="0">
                <a:solidFill>
                  <a:srgbClr val="C8102E"/>
                </a:solidFill>
                <a:latin typeface="Cambria" pitchFamily="34" charset="0"/>
                <a:ea typeface="Cambria" pitchFamily="34" charset="-122"/>
                <a:cs typeface="Cambria" pitchFamily="34" charset="-120"/>
              </a:rPr>
              <a:t>22</a:t>
            </a:r>
            <a:endParaRPr lang="en-US" sz="4400" dirty="0"/>
          </a:p>
        </p:txBody>
      </p:sp>
      <p:sp>
        <p:nvSpPr>
          <p:cNvPr id="17" name="Text 12"/>
          <p:cNvSpPr txBox="1"/>
          <p:nvPr/>
        </p:nvSpPr>
        <p:spPr>
          <a:xfrm>
            <a:off x="1920240" y="5029200"/>
            <a:ext cx="3749040" cy="640080"/>
          </a:xfrm>
          <a:prstGeom prst="rect">
            <a:avLst/>
          </a:prstGeom>
          <a:noFill/>
          <a:ln/>
        </p:spPr>
        <p:txBody>
          <a:bodyPr wrap="square" lIns="0" tIns="0" rIns="0" bIns="0" rtlCol="0" anchor="t"/>
          <a:lstStyle/>
          <a:p>
            <a:pPr marL="0" indent="0">
              <a:buNone/>
            </a:pPr>
            <a:r>
              <a:rPr lang="en-US" sz="1500" dirty="0">
                <a:solidFill>
                  <a:srgbClr val="1B2430"/>
                </a:solidFill>
                <a:latin typeface="Calibri" pitchFamily="34" charset="0"/>
                <a:ea typeface="Calibri" pitchFamily="34" charset="-122"/>
                <a:cs typeface="Calibri" pitchFamily="34" charset="-120"/>
              </a:rPr>
              <a:t>ICU or acute care admissions among RSV-positive children</a:t>
            </a:r>
            <a:endParaRPr lang="en-US" sz="1500" dirty="0"/>
          </a:p>
        </p:txBody>
      </p:sp>
      <p:sp>
        <p:nvSpPr>
          <p:cNvPr id="18" name="Shape 13"/>
          <p:cNvSpPr/>
          <p:nvPr/>
        </p:nvSpPr>
        <p:spPr>
          <a:xfrm>
            <a:off x="6172200" y="3886200"/>
            <a:ext cx="5394960" cy="1965960"/>
          </a:xfrm>
          <a:prstGeom prst="roundRect">
            <a:avLst>
              <a:gd name="adj" fmla="val 5581"/>
            </a:avLst>
          </a:prstGeom>
          <a:solidFill>
            <a:srgbClr val="F4F6FA"/>
          </a:solidFill>
          <a:ln w="12700">
            <a:solidFill>
              <a:srgbClr val="F4F6FA"/>
            </a:solidFill>
            <a:prstDash val="solid"/>
          </a:ln>
        </p:spPr>
        <p:txBody>
          <a:bodyPr/>
          <a:lstStyle/>
          <a:p>
            <a:endParaRPr lang="en-US"/>
          </a:p>
        </p:txBody>
      </p:sp>
      <p:sp>
        <p:nvSpPr>
          <p:cNvPr id="19" name="Shape 14"/>
          <p:cNvSpPr/>
          <p:nvPr/>
        </p:nvSpPr>
        <p:spPr>
          <a:xfrm>
            <a:off x="6492240" y="4480560"/>
            <a:ext cx="777240" cy="777240"/>
          </a:xfrm>
          <a:prstGeom prst="ellipse">
            <a:avLst/>
          </a:prstGeom>
          <a:solidFill>
            <a:srgbClr val="14213D"/>
          </a:solidFill>
          <a:ln w="12700">
            <a:solidFill>
              <a:srgbClr val="14213D"/>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6663233" y="4651553"/>
            <a:ext cx="435254" cy="435254"/>
          </a:xfrm>
          <a:prstGeom prst="rect">
            <a:avLst/>
          </a:prstGeom>
        </p:spPr>
      </p:pic>
      <p:sp>
        <p:nvSpPr>
          <p:cNvPr id="21" name="Text 15"/>
          <p:cNvSpPr txBox="1"/>
          <p:nvPr/>
        </p:nvSpPr>
        <p:spPr>
          <a:xfrm>
            <a:off x="7543800" y="4160520"/>
            <a:ext cx="3749040" cy="868680"/>
          </a:xfrm>
          <a:prstGeom prst="rect">
            <a:avLst/>
          </a:prstGeom>
          <a:noFill/>
          <a:ln/>
        </p:spPr>
        <p:txBody>
          <a:bodyPr wrap="square" lIns="0" tIns="0" rIns="0" bIns="0" rtlCol="0" anchor="ctr"/>
          <a:lstStyle/>
          <a:p>
            <a:pPr marL="0" indent="0">
              <a:buNone/>
            </a:pPr>
            <a:r>
              <a:rPr lang="en-US" sz="4400" b="1" dirty="0">
                <a:solidFill>
                  <a:srgbClr val="14213D"/>
                </a:solidFill>
                <a:latin typeface="Cambria" pitchFamily="34" charset="0"/>
                <a:ea typeface="Cambria" pitchFamily="34" charset="-122"/>
                <a:cs typeface="Cambria" pitchFamily="34" charset="-120"/>
              </a:rPr>
              <a:t>5,379</a:t>
            </a:r>
            <a:endParaRPr lang="en-US" sz="4400" dirty="0"/>
          </a:p>
        </p:txBody>
      </p:sp>
      <p:sp>
        <p:nvSpPr>
          <p:cNvPr id="22" name="Text 16"/>
          <p:cNvSpPr txBox="1"/>
          <p:nvPr/>
        </p:nvSpPr>
        <p:spPr>
          <a:xfrm>
            <a:off x="7543800" y="5029200"/>
            <a:ext cx="3749040" cy="640080"/>
          </a:xfrm>
          <a:prstGeom prst="rect">
            <a:avLst/>
          </a:prstGeom>
          <a:noFill/>
          <a:ln/>
        </p:spPr>
        <p:txBody>
          <a:bodyPr wrap="square" lIns="0" tIns="0" rIns="0" bIns="0" rtlCol="0" anchor="t"/>
          <a:lstStyle/>
          <a:p>
            <a:pPr marL="0" indent="0">
              <a:buNone/>
            </a:pPr>
            <a:r>
              <a:rPr lang="en-US" sz="1500" dirty="0">
                <a:solidFill>
                  <a:srgbClr val="1B2430"/>
                </a:solidFill>
                <a:latin typeface="Calibri" pitchFamily="34" charset="0"/>
                <a:ea typeface="Calibri" pitchFamily="34" charset="-122"/>
                <a:cs typeface="Calibri" pitchFamily="34" charset="-120"/>
              </a:rPr>
              <a:t>bed-days used by all 279 children with heart disease</a:t>
            </a:r>
            <a:endParaRPr lang="en-US" sz="1500" dirty="0"/>
          </a:p>
        </p:txBody>
      </p:sp>
      <p:sp>
        <p:nvSpPr>
          <p:cNvPr id="23" name="Text 17"/>
          <p:cNvSpPr txBox="1"/>
          <p:nvPr/>
        </p:nvSpPr>
        <p:spPr>
          <a:xfrm>
            <a:off x="548640" y="6355080"/>
            <a:ext cx="11094415" cy="274320"/>
          </a:xfrm>
          <a:prstGeom prst="rect">
            <a:avLst/>
          </a:prstGeom>
          <a:noFill/>
          <a:ln/>
        </p:spPr>
        <p:txBody>
          <a:bodyPr wrap="square" lIns="0" tIns="0" rIns="0" bIns="0" rtlCol="0" anchor="ctr"/>
          <a:lstStyle/>
          <a:p>
            <a:pPr marL="0" indent="0">
              <a:buNone/>
            </a:pPr>
            <a:r>
              <a:rPr lang="en-US" sz="1000" i="1" dirty="0">
                <a:solidFill>
                  <a:srgbClr val="5B6573"/>
                </a:solidFill>
                <a:latin typeface="Calibri" pitchFamily="34" charset="0"/>
                <a:ea typeface="Calibri" pitchFamily="34" charset="-122"/>
                <a:cs typeface="Calibri" pitchFamily="34" charset="-120"/>
              </a:rPr>
              <a:t>Bed-days = date of outcome minus date of admission (discharged or died). ICU/acute care day counts were incompletely recorded, so they are not totalled here.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The lesson: to protect these hearts, stop RSV before the child reaches hospital</a:t>
            </a:r>
            <a:endParaRPr lang="en-US" sz="3000" dirty="0"/>
          </a:p>
        </p:txBody>
      </p:sp>
      <p:sp>
        <p:nvSpPr>
          <p:cNvPr id="3" name="Shape 1"/>
          <p:cNvSpPr/>
          <p:nvPr/>
        </p:nvSpPr>
        <p:spPr>
          <a:xfrm>
            <a:off x="548640" y="1828800"/>
            <a:ext cx="3383280" cy="3566160"/>
          </a:xfrm>
          <a:prstGeom prst="roundRect">
            <a:avLst>
              <a:gd name="adj" fmla="val 3243"/>
            </a:avLst>
          </a:prstGeom>
          <a:solidFill>
            <a:srgbClr val="FFFFFF"/>
          </a:solidFill>
          <a:ln w="12700">
            <a:solidFill>
              <a:srgbClr val="FFFFFF"/>
            </a:solidFill>
            <a:prstDash val="solid"/>
          </a:ln>
        </p:spPr>
        <p:txBody>
          <a:bodyPr/>
          <a:lstStyle/>
          <a:p>
            <a:endParaRPr lang="en-US"/>
          </a:p>
        </p:txBody>
      </p:sp>
      <p:sp>
        <p:nvSpPr>
          <p:cNvPr id="4" name="Shape 2"/>
          <p:cNvSpPr/>
          <p:nvPr/>
        </p:nvSpPr>
        <p:spPr>
          <a:xfrm>
            <a:off x="868680" y="2148840"/>
            <a:ext cx="822960" cy="822960"/>
          </a:xfrm>
          <a:prstGeom prst="ellipse">
            <a:avLst/>
          </a:prstGeom>
          <a:solidFill>
            <a:srgbClr val="C8102E"/>
          </a:solidFill>
          <a:ln w="12700">
            <a:solidFill>
              <a:srgbClr val="C8102E"/>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49731" y="2329891"/>
            <a:ext cx="460858" cy="460858"/>
          </a:xfrm>
          <a:prstGeom prst="rect">
            <a:avLst/>
          </a:prstGeom>
        </p:spPr>
      </p:pic>
      <p:sp>
        <p:nvSpPr>
          <p:cNvPr id="6" name="Text 3"/>
          <p:cNvSpPr txBox="1"/>
          <p:nvPr/>
        </p:nvSpPr>
        <p:spPr>
          <a:xfrm>
            <a:off x="868680" y="3154680"/>
            <a:ext cx="2834640" cy="822960"/>
          </a:xfrm>
          <a:prstGeom prst="rect">
            <a:avLst/>
          </a:prstGeom>
          <a:noFill/>
          <a:ln/>
        </p:spPr>
        <p:txBody>
          <a:bodyPr wrap="square" lIns="0" tIns="0" rIns="0" bIns="0" rtlCol="0" anchor="t"/>
          <a:lstStyle/>
          <a:p>
            <a:pPr marL="0" indent="0">
              <a:buNone/>
            </a:pPr>
            <a:r>
              <a:rPr lang="en-US" sz="2100" b="1" dirty="0">
                <a:solidFill>
                  <a:srgbClr val="1B2430"/>
                </a:solidFill>
                <a:latin typeface="Cambria" pitchFamily="34" charset="0"/>
                <a:ea typeface="Cambria" pitchFamily="34" charset="-122"/>
                <a:cs typeface="Cambria" pitchFamily="34" charset="-120"/>
              </a:rPr>
              <a:t>RSV is common</a:t>
            </a:r>
            <a:endParaRPr lang="en-US" sz="2100" dirty="0"/>
          </a:p>
        </p:txBody>
      </p:sp>
      <p:sp>
        <p:nvSpPr>
          <p:cNvPr id="7" name="Text 4"/>
          <p:cNvSpPr txBox="1"/>
          <p:nvPr/>
        </p:nvSpPr>
        <p:spPr>
          <a:xfrm>
            <a:off x="868680" y="4069080"/>
            <a:ext cx="2743200" cy="1188720"/>
          </a:xfrm>
          <a:prstGeom prst="rect">
            <a:avLst/>
          </a:prstGeom>
          <a:noFill/>
          <a:ln/>
        </p:spPr>
        <p:txBody>
          <a:bodyPr wrap="square" lIns="0" tIns="0" rIns="0" bIns="0" rtlCol="0" anchor="t"/>
          <a:lstStyle/>
          <a:p>
            <a:pPr marL="0" indent="0">
              <a:buNone/>
            </a:pPr>
            <a:r>
              <a:rPr lang="en-US" sz="1500" dirty="0">
                <a:solidFill>
                  <a:srgbClr val="5B6573"/>
                </a:solidFill>
                <a:latin typeface="Calibri" pitchFamily="34" charset="0"/>
                <a:ea typeface="Calibri" pitchFamily="34" charset="-122"/>
                <a:cs typeface="Calibri" pitchFamily="34" charset="-120"/>
              </a:rPr>
              <a:t>1 in 5 children with heart disease admitted with SARI had RSV, mostly infants</a:t>
            </a:r>
            <a:endParaRPr lang="en-US" sz="1500" dirty="0"/>
          </a:p>
        </p:txBody>
      </p:sp>
      <p:sp>
        <p:nvSpPr>
          <p:cNvPr id="8" name="Text 5"/>
          <p:cNvSpPr txBox="1"/>
          <p:nvPr/>
        </p:nvSpPr>
        <p:spPr>
          <a:xfrm>
            <a:off x="3950208" y="3200400"/>
            <a:ext cx="411480" cy="548640"/>
          </a:xfrm>
          <a:prstGeom prst="rect">
            <a:avLst/>
          </a:prstGeom>
          <a:noFill/>
          <a:ln/>
        </p:spPr>
        <p:txBody>
          <a:bodyPr wrap="square" lIns="0" tIns="0" rIns="0" bIns="0" rtlCol="0" anchor="ctr"/>
          <a:lstStyle/>
          <a:p>
            <a:pPr marL="0" indent="0" algn="ctr">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9" name="Shape 6"/>
          <p:cNvSpPr/>
          <p:nvPr/>
        </p:nvSpPr>
        <p:spPr>
          <a:xfrm>
            <a:off x="4389120" y="1828800"/>
            <a:ext cx="3383280" cy="3566160"/>
          </a:xfrm>
          <a:prstGeom prst="roundRect">
            <a:avLst>
              <a:gd name="adj" fmla="val 3243"/>
            </a:avLst>
          </a:prstGeom>
          <a:solidFill>
            <a:srgbClr val="FFFFFF"/>
          </a:solidFill>
          <a:ln w="12700">
            <a:solidFill>
              <a:srgbClr val="FFFFFF"/>
            </a:solidFill>
            <a:prstDash val="solid"/>
          </a:ln>
        </p:spPr>
        <p:txBody>
          <a:bodyPr/>
          <a:lstStyle/>
          <a:p>
            <a:endParaRPr lang="en-US"/>
          </a:p>
        </p:txBody>
      </p:sp>
      <p:sp>
        <p:nvSpPr>
          <p:cNvPr id="10" name="Shape 7"/>
          <p:cNvSpPr/>
          <p:nvPr/>
        </p:nvSpPr>
        <p:spPr>
          <a:xfrm>
            <a:off x="4709160" y="2148840"/>
            <a:ext cx="822960" cy="822960"/>
          </a:xfrm>
          <a:prstGeom prst="ellipse">
            <a:avLst/>
          </a:prstGeom>
          <a:solidFill>
            <a:srgbClr val="C8102E"/>
          </a:solidFill>
          <a:ln w="12700">
            <a:solidFill>
              <a:srgbClr val="C8102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890211" y="2329891"/>
            <a:ext cx="460858" cy="460858"/>
          </a:xfrm>
          <a:prstGeom prst="rect">
            <a:avLst/>
          </a:prstGeom>
        </p:spPr>
      </p:pic>
      <p:sp>
        <p:nvSpPr>
          <p:cNvPr id="12" name="Text 8"/>
          <p:cNvSpPr txBox="1"/>
          <p:nvPr/>
        </p:nvSpPr>
        <p:spPr>
          <a:xfrm>
            <a:off x="4709160" y="3154680"/>
            <a:ext cx="2834640" cy="822960"/>
          </a:xfrm>
          <a:prstGeom prst="rect">
            <a:avLst/>
          </a:prstGeom>
          <a:noFill/>
          <a:ln/>
        </p:spPr>
        <p:txBody>
          <a:bodyPr wrap="square" lIns="0" tIns="0" rIns="0" bIns="0" rtlCol="0" anchor="t"/>
          <a:lstStyle/>
          <a:p>
            <a:pPr marL="0" indent="0">
              <a:buNone/>
            </a:pPr>
            <a:r>
              <a:rPr lang="en-US" sz="2100" b="1" dirty="0">
                <a:solidFill>
                  <a:srgbClr val="1B2430"/>
                </a:solidFill>
                <a:latin typeface="Cambria" pitchFamily="34" charset="0"/>
                <a:ea typeface="Cambria" pitchFamily="34" charset="-122"/>
                <a:cs typeface="Cambria" pitchFamily="34" charset="-120"/>
              </a:rPr>
              <a:t>The heart drives severity</a:t>
            </a:r>
            <a:endParaRPr lang="en-US" sz="2100" dirty="0"/>
          </a:p>
        </p:txBody>
      </p:sp>
      <p:sp>
        <p:nvSpPr>
          <p:cNvPr id="13" name="Text 9"/>
          <p:cNvSpPr txBox="1"/>
          <p:nvPr/>
        </p:nvSpPr>
        <p:spPr>
          <a:xfrm>
            <a:off x="4709160" y="4069080"/>
            <a:ext cx="2743200" cy="1188720"/>
          </a:xfrm>
          <a:prstGeom prst="rect">
            <a:avLst/>
          </a:prstGeom>
          <a:noFill/>
          <a:ln/>
        </p:spPr>
        <p:txBody>
          <a:bodyPr wrap="square" lIns="0" tIns="0" rIns="0" bIns="0" rtlCol="0" anchor="t"/>
          <a:lstStyle/>
          <a:p>
            <a:pPr marL="0" indent="0">
              <a:buNone/>
            </a:pPr>
            <a:r>
              <a:rPr lang="en-US" sz="1500" dirty="0">
                <a:solidFill>
                  <a:srgbClr val="5B6573"/>
                </a:solidFill>
                <a:latin typeface="Calibri" pitchFamily="34" charset="0"/>
                <a:ea typeface="Calibri" pitchFamily="34" charset="-122"/>
                <a:cs typeface="Calibri" pitchFamily="34" charset="-120"/>
              </a:rPr>
              <a:t>Once admitted, outcomes were set by heart disease, with nearly twice the risk of death</a:t>
            </a:r>
            <a:endParaRPr lang="en-US" sz="1500" dirty="0"/>
          </a:p>
        </p:txBody>
      </p:sp>
      <p:sp>
        <p:nvSpPr>
          <p:cNvPr id="14" name="Text 10"/>
          <p:cNvSpPr txBox="1"/>
          <p:nvPr/>
        </p:nvSpPr>
        <p:spPr>
          <a:xfrm>
            <a:off x="7790688" y="3200400"/>
            <a:ext cx="411480" cy="548640"/>
          </a:xfrm>
          <a:prstGeom prst="rect">
            <a:avLst/>
          </a:prstGeom>
          <a:noFill/>
          <a:ln/>
        </p:spPr>
        <p:txBody>
          <a:bodyPr wrap="square" lIns="0" tIns="0" rIns="0" bIns="0" rtlCol="0" anchor="ctr"/>
          <a:lstStyle/>
          <a:p>
            <a:pPr marL="0" indent="0" algn="ctr">
              <a:buNone/>
            </a:pPr>
            <a:r>
              <a:rPr lang="en-US" sz="3000" b="1" dirty="0">
                <a:solidFill>
                  <a:srgbClr val="C8102E"/>
                </a:solidFill>
                <a:latin typeface="Calibri" pitchFamily="34" charset="0"/>
                <a:ea typeface="Calibri" pitchFamily="34" charset="-122"/>
                <a:cs typeface="Calibri" pitchFamily="34" charset="-120"/>
              </a:rPr>
              <a:t>→</a:t>
            </a:r>
            <a:endParaRPr lang="en-US" sz="3000" dirty="0"/>
          </a:p>
        </p:txBody>
      </p:sp>
      <p:sp>
        <p:nvSpPr>
          <p:cNvPr id="15" name="Shape 11"/>
          <p:cNvSpPr/>
          <p:nvPr/>
        </p:nvSpPr>
        <p:spPr>
          <a:xfrm>
            <a:off x="8229600" y="1828800"/>
            <a:ext cx="3383280" cy="3566160"/>
          </a:xfrm>
          <a:prstGeom prst="roundRect">
            <a:avLst>
              <a:gd name="adj" fmla="val 3243"/>
            </a:avLst>
          </a:prstGeom>
          <a:solidFill>
            <a:srgbClr val="FFFFFF"/>
          </a:solidFill>
          <a:ln w="12700">
            <a:solidFill>
              <a:srgbClr val="FFFFFF"/>
            </a:solidFill>
            <a:prstDash val="solid"/>
          </a:ln>
        </p:spPr>
        <p:txBody>
          <a:bodyPr/>
          <a:lstStyle/>
          <a:p>
            <a:endParaRPr lang="en-US"/>
          </a:p>
        </p:txBody>
      </p:sp>
      <p:sp>
        <p:nvSpPr>
          <p:cNvPr id="16" name="Shape 12"/>
          <p:cNvSpPr/>
          <p:nvPr/>
        </p:nvSpPr>
        <p:spPr>
          <a:xfrm>
            <a:off x="8549640" y="2148840"/>
            <a:ext cx="822960" cy="822960"/>
          </a:xfrm>
          <a:prstGeom prst="ellipse">
            <a:avLst/>
          </a:prstGeom>
          <a:solidFill>
            <a:srgbClr val="14213D"/>
          </a:solidFill>
          <a:ln w="12700">
            <a:solidFill>
              <a:srgbClr val="14213D"/>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730691" y="2329891"/>
            <a:ext cx="460858" cy="460858"/>
          </a:xfrm>
          <a:prstGeom prst="rect">
            <a:avLst/>
          </a:prstGeom>
        </p:spPr>
      </p:pic>
      <p:sp>
        <p:nvSpPr>
          <p:cNvPr id="18" name="Text 13"/>
          <p:cNvSpPr txBox="1"/>
          <p:nvPr/>
        </p:nvSpPr>
        <p:spPr>
          <a:xfrm>
            <a:off x="8549640" y="3154680"/>
            <a:ext cx="2834640" cy="822960"/>
          </a:xfrm>
          <a:prstGeom prst="rect">
            <a:avLst/>
          </a:prstGeom>
          <a:noFill/>
          <a:ln/>
        </p:spPr>
        <p:txBody>
          <a:bodyPr wrap="square" lIns="0" tIns="0" rIns="0" bIns="0" rtlCol="0" anchor="t"/>
          <a:lstStyle/>
          <a:p>
            <a:pPr marL="0" indent="0">
              <a:buNone/>
            </a:pPr>
            <a:r>
              <a:rPr lang="en-US" sz="2100" b="1" dirty="0">
                <a:solidFill>
                  <a:srgbClr val="1B2430"/>
                </a:solidFill>
                <a:latin typeface="Cambria" pitchFamily="34" charset="0"/>
                <a:ea typeface="Cambria" pitchFamily="34" charset="-122"/>
                <a:cs typeface="Cambria" pitchFamily="34" charset="-120"/>
              </a:rPr>
              <a:t>Gains lie upstream</a:t>
            </a:r>
            <a:endParaRPr lang="en-US" sz="2100" dirty="0"/>
          </a:p>
        </p:txBody>
      </p:sp>
      <p:sp>
        <p:nvSpPr>
          <p:cNvPr id="19" name="Text 14"/>
          <p:cNvSpPr txBox="1"/>
          <p:nvPr/>
        </p:nvSpPr>
        <p:spPr>
          <a:xfrm>
            <a:off x="8549640" y="4069080"/>
            <a:ext cx="2743200" cy="1188720"/>
          </a:xfrm>
          <a:prstGeom prst="rect">
            <a:avLst/>
          </a:prstGeom>
          <a:noFill/>
          <a:ln/>
        </p:spPr>
        <p:txBody>
          <a:bodyPr wrap="square" lIns="0" tIns="0" rIns="0" bIns="0" rtlCol="0" anchor="t"/>
          <a:lstStyle/>
          <a:p>
            <a:pPr marL="0" indent="0">
              <a:buNone/>
            </a:pPr>
            <a:r>
              <a:rPr lang="en-US" sz="1500" dirty="0">
                <a:solidFill>
                  <a:srgbClr val="5B6573"/>
                </a:solidFill>
                <a:latin typeface="Calibri" pitchFamily="34" charset="0"/>
                <a:ea typeface="Calibri" pitchFamily="34" charset="-122"/>
                <a:cs typeface="Calibri" pitchFamily="34" charset="-120"/>
              </a:rPr>
              <a:t>Preventing infection avoids the admission, the risk and 2–3 weeks of bed use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From evidence to impact: three actions for Kenya</a:t>
            </a:r>
            <a:endParaRPr lang="en-US" sz="3000" dirty="0"/>
          </a:p>
        </p:txBody>
      </p:sp>
      <p:sp>
        <p:nvSpPr>
          <p:cNvPr id="3" name="Shape 1"/>
          <p:cNvSpPr/>
          <p:nvPr/>
        </p:nvSpPr>
        <p:spPr>
          <a:xfrm>
            <a:off x="548640" y="1600200"/>
            <a:ext cx="11064240" cy="1280160"/>
          </a:xfrm>
          <a:prstGeom prst="roundRect">
            <a:avLst>
              <a:gd name="adj" fmla="val 8571"/>
            </a:avLst>
          </a:prstGeom>
          <a:solidFill>
            <a:srgbClr val="F4F6FA"/>
          </a:solidFill>
          <a:ln w="12700">
            <a:solidFill>
              <a:srgbClr val="F4F6FA"/>
            </a:solidFill>
            <a:prstDash val="solid"/>
          </a:ln>
        </p:spPr>
        <p:txBody>
          <a:bodyPr/>
          <a:lstStyle/>
          <a:p>
            <a:endParaRPr lang="en-US"/>
          </a:p>
        </p:txBody>
      </p:sp>
      <p:sp>
        <p:nvSpPr>
          <p:cNvPr id="4" name="Shape 2"/>
          <p:cNvSpPr/>
          <p:nvPr/>
        </p:nvSpPr>
        <p:spPr>
          <a:xfrm>
            <a:off x="822960" y="1856232"/>
            <a:ext cx="777240" cy="777240"/>
          </a:xfrm>
          <a:prstGeom prst="ellipse">
            <a:avLst/>
          </a:prstGeom>
          <a:solidFill>
            <a:srgbClr val="C8102E"/>
          </a:solidFill>
          <a:ln w="12700">
            <a:solidFill>
              <a:srgbClr val="C8102E"/>
            </a:solidFill>
            <a:prstDash val="solid"/>
          </a:ln>
        </p:spPr>
        <p:txBody>
          <a:bodyPr/>
          <a:lstStyle/>
          <a:p>
            <a:endParaRPr lang="en-US"/>
          </a:p>
        </p:txBody>
      </p:sp>
      <p:sp>
        <p:nvSpPr>
          <p:cNvPr id="5" name="Text 3"/>
          <p:cNvSpPr txBox="1"/>
          <p:nvPr/>
        </p:nvSpPr>
        <p:spPr>
          <a:xfrm>
            <a:off x="822960" y="1856232"/>
            <a:ext cx="777240" cy="777240"/>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6" name="Text 4"/>
          <p:cNvSpPr txBox="1"/>
          <p:nvPr/>
        </p:nvSpPr>
        <p:spPr>
          <a:xfrm>
            <a:off x="1920240" y="1783080"/>
            <a:ext cx="3108960" cy="914400"/>
          </a:xfrm>
          <a:prstGeom prst="rect">
            <a:avLst/>
          </a:prstGeom>
          <a:noFill/>
          <a:ln/>
        </p:spPr>
        <p:txBody>
          <a:bodyPr wrap="square" lIns="0" tIns="0" rIns="0" bIns="0" rtlCol="0" anchor="ctr"/>
          <a:lstStyle/>
          <a:p>
            <a:pPr marL="0" indent="0">
              <a:buNone/>
            </a:pPr>
            <a:r>
              <a:rPr lang="en-US" sz="2200" b="1" dirty="0">
                <a:solidFill>
                  <a:srgbClr val="1B2430"/>
                </a:solidFill>
                <a:latin typeface="Cambria" pitchFamily="34" charset="0"/>
                <a:ea typeface="Cambria" pitchFamily="34" charset="-122"/>
                <a:cs typeface="Cambria" pitchFamily="34" charset="-120"/>
              </a:rPr>
              <a:t>Prioritise</a:t>
            </a:r>
            <a:endParaRPr lang="en-US" sz="2200" dirty="0"/>
          </a:p>
        </p:txBody>
      </p:sp>
      <p:sp>
        <p:nvSpPr>
          <p:cNvPr id="7" name="Text 5"/>
          <p:cNvSpPr txBox="1"/>
          <p:nvPr/>
        </p:nvSpPr>
        <p:spPr>
          <a:xfrm>
            <a:off x="5029200" y="1737360"/>
            <a:ext cx="6309360" cy="1005840"/>
          </a:xfrm>
          <a:prstGeom prst="rect">
            <a:avLst/>
          </a:prstGeom>
          <a:noFill/>
          <a:ln/>
        </p:spPr>
        <p:txBody>
          <a:bodyPr wrap="square" lIns="0" tIns="0" rIns="0" bIns="0" rtlCol="0" anchor="ctr"/>
          <a:lstStyle/>
          <a:p>
            <a:pPr marL="0" indent="0">
              <a:buNone/>
            </a:pPr>
            <a:r>
              <a:rPr lang="en-US" sz="1600" dirty="0">
                <a:solidFill>
                  <a:srgbClr val="1B2430"/>
                </a:solidFill>
                <a:latin typeface="Calibri" pitchFamily="34" charset="0"/>
                <a:ea typeface="Calibri" pitchFamily="34" charset="-122"/>
                <a:cs typeface="Calibri" pitchFamily="34" charset="-120"/>
              </a:rPr>
              <a:t>Include infants with heart disease, and pregnant women where maternal vaccination is used, in the first wave of any RSV prevention rollout.</a:t>
            </a:r>
            <a:endParaRPr lang="en-US" sz="1600" dirty="0"/>
          </a:p>
        </p:txBody>
      </p:sp>
      <p:sp>
        <p:nvSpPr>
          <p:cNvPr id="8" name="Shape 6"/>
          <p:cNvSpPr/>
          <p:nvPr/>
        </p:nvSpPr>
        <p:spPr>
          <a:xfrm>
            <a:off x="548640" y="3081528"/>
            <a:ext cx="11064240" cy="1280160"/>
          </a:xfrm>
          <a:prstGeom prst="roundRect">
            <a:avLst>
              <a:gd name="adj" fmla="val 8571"/>
            </a:avLst>
          </a:prstGeom>
          <a:solidFill>
            <a:srgbClr val="F4F6FA"/>
          </a:solidFill>
          <a:ln w="12700">
            <a:solidFill>
              <a:srgbClr val="F4F6FA"/>
            </a:solidFill>
            <a:prstDash val="solid"/>
          </a:ln>
        </p:spPr>
        <p:txBody>
          <a:bodyPr/>
          <a:lstStyle/>
          <a:p>
            <a:endParaRPr lang="en-US"/>
          </a:p>
        </p:txBody>
      </p:sp>
      <p:sp>
        <p:nvSpPr>
          <p:cNvPr id="9" name="Shape 7"/>
          <p:cNvSpPr/>
          <p:nvPr/>
        </p:nvSpPr>
        <p:spPr>
          <a:xfrm>
            <a:off x="822960" y="3337560"/>
            <a:ext cx="777240" cy="777240"/>
          </a:xfrm>
          <a:prstGeom prst="ellipse">
            <a:avLst/>
          </a:prstGeom>
          <a:solidFill>
            <a:srgbClr val="C8102E"/>
          </a:solidFill>
          <a:ln w="12700">
            <a:solidFill>
              <a:srgbClr val="C8102E"/>
            </a:solidFill>
            <a:prstDash val="solid"/>
          </a:ln>
        </p:spPr>
        <p:txBody>
          <a:bodyPr/>
          <a:lstStyle/>
          <a:p>
            <a:endParaRPr lang="en-US"/>
          </a:p>
        </p:txBody>
      </p:sp>
      <p:sp>
        <p:nvSpPr>
          <p:cNvPr id="10" name="Text 8"/>
          <p:cNvSpPr txBox="1"/>
          <p:nvPr/>
        </p:nvSpPr>
        <p:spPr>
          <a:xfrm>
            <a:off x="822960" y="3337560"/>
            <a:ext cx="777240" cy="777240"/>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1" name="Text 9"/>
          <p:cNvSpPr txBox="1"/>
          <p:nvPr/>
        </p:nvSpPr>
        <p:spPr>
          <a:xfrm>
            <a:off x="1920240" y="3264408"/>
            <a:ext cx="3108960" cy="914400"/>
          </a:xfrm>
          <a:prstGeom prst="rect">
            <a:avLst/>
          </a:prstGeom>
          <a:noFill/>
          <a:ln/>
        </p:spPr>
        <p:txBody>
          <a:bodyPr wrap="square" lIns="0" tIns="0" rIns="0" bIns="0" rtlCol="0" anchor="ctr"/>
          <a:lstStyle/>
          <a:p>
            <a:pPr marL="0" indent="0">
              <a:buNone/>
            </a:pPr>
            <a:r>
              <a:rPr lang="en-US" sz="2200" b="1" dirty="0">
                <a:solidFill>
                  <a:srgbClr val="1B2430"/>
                </a:solidFill>
                <a:latin typeface="Cambria" pitchFamily="34" charset="0"/>
                <a:ea typeface="Cambria" pitchFamily="34" charset="-122"/>
                <a:cs typeface="Cambria" pitchFamily="34" charset="-120"/>
              </a:rPr>
              <a:t>Track</a:t>
            </a:r>
            <a:endParaRPr lang="en-US" sz="2200" dirty="0"/>
          </a:p>
        </p:txBody>
      </p:sp>
      <p:sp>
        <p:nvSpPr>
          <p:cNvPr id="12" name="Text 10"/>
          <p:cNvSpPr txBox="1"/>
          <p:nvPr/>
        </p:nvSpPr>
        <p:spPr>
          <a:xfrm>
            <a:off x="5029200" y="3218688"/>
            <a:ext cx="6309360" cy="1005840"/>
          </a:xfrm>
          <a:prstGeom prst="rect">
            <a:avLst/>
          </a:prstGeom>
          <a:noFill/>
          <a:ln/>
        </p:spPr>
        <p:txBody>
          <a:bodyPr wrap="square" lIns="0" tIns="0" rIns="0" bIns="0" rtlCol="0" anchor="ctr"/>
          <a:lstStyle/>
          <a:p>
            <a:pPr marL="0" indent="0">
              <a:buNone/>
            </a:pPr>
            <a:r>
              <a:rPr lang="en-US" sz="1600" dirty="0">
                <a:solidFill>
                  <a:srgbClr val="1B2430"/>
                </a:solidFill>
                <a:latin typeface="Calibri" pitchFamily="34" charset="0"/>
                <a:ea typeface="Calibri" pitchFamily="34" charset="-122"/>
                <a:cs typeface="Calibri" pitchFamily="34" charset="-120"/>
              </a:rPr>
              <a:t>Add a heart-disease field to routine SARI surveillance, so the impact of prevention can be measured after rollout.</a:t>
            </a:r>
            <a:endParaRPr lang="en-US" sz="1600" dirty="0"/>
          </a:p>
        </p:txBody>
      </p:sp>
      <p:sp>
        <p:nvSpPr>
          <p:cNvPr id="13" name="Shape 11"/>
          <p:cNvSpPr/>
          <p:nvPr/>
        </p:nvSpPr>
        <p:spPr>
          <a:xfrm>
            <a:off x="548640" y="4562856"/>
            <a:ext cx="11064240" cy="1280160"/>
          </a:xfrm>
          <a:prstGeom prst="roundRect">
            <a:avLst>
              <a:gd name="adj" fmla="val 8571"/>
            </a:avLst>
          </a:prstGeom>
          <a:solidFill>
            <a:srgbClr val="F4F6FA"/>
          </a:solidFill>
          <a:ln w="12700">
            <a:solidFill>
              <a:srgbClr val="F4F6FA"/>
            </a:solidFill>
            <a:prstDash val="solid"/>
          </a:ln>
        </p:spPr>
        <p:txBody>
          <a:bodyPr/>
          <a:lstStyle/>
          <a:p>
            <a:endParaRPr lang="en-US"/>
          </a:p>
        </p:txBody>
      </p:sp>
      <p:sp>
        <p:nvSpPr>
          <p:cNvPr id="14" name="Shape 12"/>
          <p:cNvSpPr/>
          <p:nvPr/>
        </p:nvSpPr>
        <p:spPr>
          <a:xfrm>
            <a:off x="822960" y="4818888"/>
            <a:ext cx="777240" cy="777240"/>
          </a:xfrm>
          <a:prstGeom prst="ellipse">
            <a:avLst/>
          </a:prstGeom>
          <a:solidFill>
            <a:srgbClr val="C8102E"/>
          </a:solidFill>
          <a:ln w="12700">
            <a:solidFill>
              <a:srgbClr val="C8102E"/>
            </a:solidFill>
            <a:prstDash val="solid"/>
          </a:ln>
        </p:spPr>
        <p:txBody>
          <a:bodyPr/>
          <a:lstStyle/>
          <a:p>
            <a:endParaRPr lang="en-US"/>
          </a:p>
        </p:txBody>
      </p:sp>
      <p:sp>
        <p:nvSpPr>
          <p:cNvPr id="15" name="Text 13"/>
          <p:cNvSpPr txBox="1"/>
          <p:nvPr/>
        </p:nvSpPr>
        <p:spPr>
          <a:xfrm>
            <a:off x="822960" y="4818888"/>
            <a:ext cx="777240" cy="777240"/>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3</a:t>
            </a:r>
            <a:endParaRPr lang="en-US" sz="2800" dirty="0"/>
          </a:p>
        </p:txBody>
      </p:sp>
      <p:sp>
        <p:nvSpPr>
          <p:cNvPr id="16" name="Text 14"/>
          <p:cNvSpPr txBox="1"/>
          <p:nvPr/>
        </p:nvSpPr>
        <p:spPr>
          <a:xfrm>
            <a:off x="1920240" y="4745736"/>
            <a:ext cx="3108960" cy="914400"/>
          </a:xfrm>
          <a:prstGeom prst="rect">
            <a:avLst/>
          </a:prstGeom>
          <a:noFill/>
          <a:ln/>
        </p:spPr>
        <p:txBody>
          <a:bodyPr wrap="square" lIns="0" tIns="0" rIns="0" bIns="0" rtlCol="0" anchor="ctr"/>
          <a:lstStyle/>
          <a:p>
            <a:pPr marL="0" indent="0">
              <a:buNone/>
            </a:pPr>
            <a:r>
              <a:rPr lang="en-US" sz="2200" b="1" dirty="0">
                <a:solidFill>
                  <a:srgbClr val="1B2430"/>
                </a:solidFill>
                <a:latin typeface="Cambria" pitchFamily="34" charset="0"/>
                <a:ea typeface="Cambria" pitchFamily="34" charset="-122"/>
                <a:cs typeface="Cambria" pitchFamily="34" charset="-120"/>
              </a:rPr>
              <a:t>Build the investment case</a:t>
            </a:r>
            <a:endParaRPr lang="en-US" sz="2200" dirty="0"/>
          </a:p>
        </p:txBody>
      </p:sp>
      <p:sp>
        <p:nvSpPr>
          <p:cNvPr id="17" name="Text 15"/>
          <p:cNvSpPr txBox="1"/>
          <p:nvPr/>
        </p:nvSpPr>
        <p:spPr>
          <a:xfrm>
            <a:off x="5029200" y="4700016"/>
            <a:ext cx="6309360" cy="1005840"/>
          </a:xfrm>
          <a:prstGeom prst="rect">
            <a:avLst/>
          </a:prstGeom>
          <a:noFill/>
          <a:ln/>
        </p:spPr>
        <p:txBody>
          <a:bodyPr wrap="square" lIns="0" tIns="0" rIns="0" bIns="0" rtlCol="0" anchor="ctr"/>
          <a:lstStyle/>
          <a:p>
            <a:pPr marL="0" indent="0">
              <a:buNone/>
            </a:pPr>
            <a:r>
              <a:rPr lang="en-US" sz="1600" dirty="0">
                <a:solidFill>
                  <a:srgbClr val="1B2430"/>
                </a:solidFill>
                <a:latin typeface="Calibri" pitchFamily="34" charset="0"/>
                <a:ea typeface="Calibri" pitchFamily="34" charset="-122"/>
                <a:cs typeface="Calibri" pitchFamily="34" charset="-120"/>
              </a:rPr>
              <a:t>Run a prospective study with post-discharge follow-up and costing, to quantify the savings from each averted admission.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914400"/>
          </a:xfrm>
          <a:prstGeom prst="rect">
            <a:avLst/>
          </a:prstGeom>
          <a:noFill/>
          <a:ln/>
        </p:spPr>
        <p:txBody>
          <a:bodyPr wrap="square" lIns="0" tIns="0" rIns="0" bIns="0" rtlCol="0" anchor="t"/>
          <a:lstStyle/>
          <a:p>
            <a:pPr marL="0" indent="0">
              <a:buNone/>
            </a:pPr>
            <a:r>
              <a:rPr lang="en-US" sz="3000" b="1" dirty="0">
                <a:solidFill>
                  <a:srgbClr val="1B2430"/>
                </a:solidFill>
                <a:latin typeface="Cambria" pitchFamily="34" charset="0"/>
                <a:ea typeface="Cambria" pitchFamily="34" charset="-122"/>
                <a:cs typeface="Cambria" pitchFamily="34" charset="-120"/>
              </a:rPr>
              <a:t>What these data can, and cannot, tell us</a:t>
            </a:r>
            <a:endParaRPr lang="en-US" sz="3000" dirty="0"/>
          </a:p>
        </p:txBody>
      </p:sp>
      <p:sp>
        <p:nvSpPr>
          <p:cNvPr id="3" name="Shape 1"/>
          <p:cNvSpPr/>
          <p:nvPr/>
        </p:nvSpPr>
        <p:spPr>
          <a:xfrm>
            <a:off x="548640" y="1600200"/>
            <a:ext cx="5394960" cy="3749040"/>
          </a:xfrm>
          <a:prstGeom prst="roundRect">
            <a:avLst>
              <a:gd name="adj" fmla="val 2927"/>
            </a:avLst>
          </a:prstGeom>
          <a:solidFill>
            <a:srgbClr val="F4F6FA"/>
          </a:solidFill>
          <a:ln w="12700">
            <a:solidFill>
              <a:srgbClr val="F4F6FA"/>
            </a:solidFill>
            <a:prstDash val="solid"/>
          </a:ln>
        </p:spPr>
        <p:txBody>
          <a:bodyPr/>
          <a:lstStyle/>
          <a:p>
            <a:endParaRPr lang="en-US"/>
          </a:p>
        </p:txBody>
      </p:sp>
      <p:sp>
        <p:nvSpPr>
          <p:cNvPr id="4" name="Shape 2"/>
          <p:cNvSpPr/>
          <p:nvPr/>
        </p:nvSpPr>
        <p:spPr>
          <a:xfrm>
            <a:off x="868680" y="1874520"/>
            <a:ext cx="640080" cy="640080"/>
          </a:xfrm>
          <a:prstGeom prst="ellipse">
            <a:avLst/>
          </a:prstGeom>
          <a:solidFill>
            <a:srgbClr val="2F6DB5"/>
          </a:solidFill>
          <a:ln w="12700">
            <a:solidFill>
              <a:srgbClr val="2F6DB5"/>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09498" y="2015338"/>
            <a:ext cx="358445" cy="358445"/>
          </a:xfrm>
          <a:prstGeom prst="rect">
            <a:avLst/>
          </a:prstGeom>
        </p:spPr>
      </p:pic>
      <p:sp>
        <p:nvSpPr>
          <p:cNvPr id="6" name="Text 3"/>
          <p:cNvSpPr txBox="1"/>
          <p:nvPr/>
        </p:nvSpPr>
        <p:spPr>
          <a:xfrm>
            <a:off x="1691640" y="1920240"/>
            <a:ext cx="3931920" cy="548640"/>
          </a:xfrm>
          <a:prstGeom prst="rect">
            <a:avLst/>
          </a:prstGeom>
          <a:noFill/>
          <a:ln/>
        </p:spPr>
        <p:txBody>
          <a:bodyPr wrap="square" lIns="0" tIns="0" rIns="0" bIns="0" rtlCol="0" anchor="ctr"/>
          <a:lstStyle/>
          <a:p>
            <a:pPr marL="0" indent="0">
              <a:buNone/>
            </a:pPr>
            <a:r>
              <a:rPr lang="en-US" sz="2200" b="1" dirty="0">
                <a:solidFill>
                  <a:srgbClr val="1B2430"/>
                </a:solidFill>
                <a:latin typeface="Cambria" pitchFamily="34" charset="0"/>
                <a:ea typeface="Cambria" pitchFamily="34" charset="-122"/>
                <a:cs typeface="Cambria" pitchFamily="34" charset="-120"/>
              </a:rPr>
              <a:t>Strengths</a:t>
            </a:r>
            <a:endParaRPr lang="en-US" sz="2200" dirty="0"/>
          </a:p>
        </p:txBody>
      </p:sp>
      <p:sp>
        <p:nvSpPr>
          <p:cNvPr id="7" name="Text 4"/>
          <p:cNvSpPr txBox="1"/>
          <p:nvPr/>
        </p:nvSpPr>
        <p:spPr>
          <a:xfrm>
            <a:off x="914400" y="2743200"/>
            <a:ext cx="475488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Multi-site national surveillance platform</a:t>
            </a:r>
            <a:endParaRPr lang="en-US" sz="1600" dirty="0"/>
          </a:p>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RSV confirmed by real-time RT-PCR</a:t>
            </a:r>
            <a:endParaRPr lang="en-US" sz="1600" dirty="0"/>
          </a:p>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Standardised severity and outcome measures</a:t>
            </a:r>
            <a:endParaRPr lang="en-US" sz="1600" dirty="0"/>
          </a:p>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Estimates adjusted for age, sex and site</a:t>
            </a:r>
            <a:endParaRPr lang="en-US" sz="1600" dirty="0"/>
          </a:p>
        </p:txBody>
      </p:sp>
      <p:sp>
        <p:nvSpPr>
          <p:cNvPr id="8" name="Shape 5"/>
          <p:cNvSpPr/>
          <p:nvPr/>
        </p:nvSpPr>
        <p:spPr>
          <a:xfrm>
            <a:off x="6217920" y="1600200"/>
            <a:ext cx="5394960" cy="3749040"/>
          </a:xfrm>
          <a:prstGeom prst="roundRect">
            <a:avLst>
              <a:gd name="adj" fmla="val 2927"/>
            </a:avLst>
          </a:prstGeom>
          <a:solidFill>
            <a:srgbClr val="F4F6FA"/>
          </a:solidFill>
          <a:ln w="12700">
            <a:solidFill>
              <a:srgbClr val="F4F6FA"/>
            </a:solidFill>
            <a:prstDash val="solid"/>
          </a:ln>
        </p:spPr>
        <p:txBody>
          <a:bodyPr/>
          <a:lstStyle/>
          <a:p>
            <a:endParaRPr lang="en-US"/>
          </a:p>
        </p:txBody>
      </p:sp>
      <p:sp>
        <p:nvSpPr>
          <p:cNvPr id="9" name="Shape 6"/>
          <p:cNvSpPr/>
          <p:nvPr/>
        </p:nvSpPr>
        <p:spPr>
          <a:xfrm>
            <a:off x="6537960" y="1874520"/>
            <a:ext cx="640080" cy="640080"/>
          </a:xfrm>
          <a:prstGeom prst="ellipse">
            <a:avLst/>
          </a:prstGeom>
          <a:solidFill>
            <a:srgbClr val="C8102E"/>
          </a:solidFill>
          <a:ln w="12700">
            <a:solidFill>
              <a:srgbClr val="C8102E"/>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678778" y="2015338"/>
            <a:ext cx="358445" cy="358445"/>
          </a:xfrm>
          <a:prstGeom prst="rect">
            <a:avLst/>
          </a:prstGeom>
        </p:spPr>
      </p:pic>
      <p:sp>
        <p:nvSpPr>
          <p:cNvPr id="11" name="Text 7"/>
          <p:cNvSpPr txBox="1"/>
          <p:nvPr/>
        </p:nvSpPr>
        <p:spPr>
          <a:xfrm>
            <a:off x="7360920" y="1920240"/>
            <a:ext cx="3931920" cy="548640"/>
          </a:xfrm>
          <a:prstGeom prst="rect">
            <a:avLst/>
          </a:prstGeom>
          <a:noFill/>
          <a:ln/>
        </p:spPr>
        <p:txBody>
          <a:bodyPr wrap="square" lIns="0" tIns="0" rIns="0" bIns="0" rtlCol="0" anchor="ctr"/>
          <a:lstStyle/>
          <a:p>
            <a:pPr marL="0" indent="0">
              <a:buNone/>
            </a:pPr>
            <a:r>
              <a:rPr lang="en-US" sz="2200" b="1" dirty="0">
                <a:solidFill>
                  <a:srgbClr val="1B2430"/>
                </a:solidFill>
                <a:latin typeface="Cambria" pitchFamily="34" charset="0"/>
                <a:ea typeface="Cambria" pitchFamily="34" charset="-122"/>
                <a:cs typeface="Cambria" pitchFamily="34" charset="-120"/>
              </a:rPr>
              <a:t>Limitations</a:t>
            </a:r>
            <a:endParaRPr lang="en-US" sz="2200" dirty="0"/>
          </a:p>
        </p:txBody>
      </p:sp>
      <p:sp>
        <p:nvSpPr>
          <p:cNvPr id="12" name="Text 8"/>
          <p:cNvSpPr txBox="1"/>
          <p:nvPr/>
        </p:nvSpPr>
        <p:spPr>
          <a:xfrm>
            <a:off x="6583680" y="2743200"/>
            <a:ext cx="475488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Small numbers: 55 RSV-positive, 19 with heart failure</a:t>
            </a:r>
            <a:endParaRPr lang="en-US" sz="1600" dirty="0"/>
          </a:p>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Heart disease partly identified from clinical free text</a:t>
            </a:r>
            <a:endParaRPr lang="en-US" sz="1600" dirty="0"/>
          </a:p>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No follow-up after discharge (readmission not captured)</a:t>
            </a:r>
            <a:endParaRPr lang="en-US" sz="1600" dirty="0"/>
          </a:p>
          <a:p>
            <a:pPr marL="342900" indent="-342900">
              <a:spcAft>
                <a:spcPts val="1000"/>
              </a:spcAft>
              <a:buSzPct val="100000"/>
              <a:buChar char="•"/>
            </a:pPr>
            <a:r>
              <a:rPr lang="en-US" sz="1600" dirty="0">
                <a:solidFill>
                  <a:srgbClr val="1B2430"/>
                </a:solidFill>
                <a:latin typeface="Calibri" pitchFamily="34" charset="0"/>
                <a:ea typeface="Calibri" pitchFamily="34" charset="-122"/>
                <a:cs typeface="Calibri" pitchFamily="34" charset="-120"/>
              </a:rPr>
              <a:t>Most children from one referral hospital; ICU days incomplete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640080" y="822960"/>
            <a:ext cx="1005840" cy="1005840"/>
          </a:xfrm>
          <a:prstGeom prst="ellipse">
            <a:avLst/>
          </a:prstGeom>
          <a:solidFill>
            <a:srgbClr val="C8102E"/>
          </a:solidFill>
          <a:ln w="12700">
            <a:solidFill>
              <a:srgbClr val="C8102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868680" y="1051560"/>
            <a:ext cx="548640" cy="548640"/>
          </a:xfrm>
          <a:prstGeom prst="rect">
            <a:avLst/>
          </a:prstGeom>
        </p:spPr>
      </p:pic>
      <p:sp>
        <p:nvSpPr>
          <p:cNvPr id="4" name="Text 1"/>
          <p:cNvSpPr txBox="1"/>
          <p:nvPr/>
        </p:nvSpPr>
        <p:spPr>
          <a:xfrm>
            <a:off x="640080" y="2103120"/>
            <a:ext cx="10515600" cy="10058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Protect the youngest hearts from RSV</a:t>
            </a:r>
            <a:endParaRPr lang="en-US" sz="4400" dirty="0"/>
          </a:p>
        </p:txBody>
      </p:sp>
      <p:sp>
        <p:nvSpPr>
          <p:cNvPr id="5" name="Text 2"/>
          <p:cNvSpPr txBox="1"/>
          <p:nvPr/>
        </p:nvSpPr>
        <p:spPr>
          <a:xfrm>
            <a:off x="640080" y="3154680"/>
            <a:ext cx="10515600" cy="548640"/>
          </a:xfrm>
          <a:prstGeom prst="rect">
            <a:avLst/>
          </a:prstGeom>
          <a:noFill/>
          <a:ln/>
        </p:spPr>
        <p:txBody>
          <a:bodyPr wrap="square" lIns="0" tIns="0" rIns="0" bIns="0" rtlCol="0" anchor="ctr"/>
          <a:lstStyle/>
          <a:p>
            <a:pPr marL="0" indent="0">
              <a:buNone/>
            </a:pPr>
            <a:r>
              <a:rPr lang="en-US" sz="2200" dirty="0">
                <a:solidFill>
                  <a:srgbClr val="F2A7B2"/>
                </a:solidFill>
                <a:latin typeface="Calibri" pitchFamily="34" charset="0"/>
                <a:ea typeface="Calibri" pitchFamily="34" charset="-122"/>
                <a:cs typeface="Calibri" pitchFamily="34" charset="-120"/>
              </a:rPr>
              <a:t>1 in 5 infected  ·  nearly 2× the risk of death  ·  2–3 weeks in hospital per admission</a:t>
            </a:r>
            <a:endParaRPr lang="en-US" sz="2200" dirty="0"/>
          </a:p>
        </p:txBody>
      </p:sp>
      <p:sp>
        <p:nvSpPr>
          <p:cNvPr id="6" name="Text 3"/>
          <p:cNvSpPr txBox="1"/>
          <p:nvPr/>
        </p:nvSpPr>
        <p:spPr>
          <a:xfrm>
            <a:off x="640080" y="4572000"/>
            <a:ext cx="10515600" cy="109728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Thank you</a:t>
            </a:r>
            <a:endParaRPr lang="en-US" sz="2000" dirty="0"/>
          </a:p>
          <a:p>
            <a:pPr marL="0" indent="0">
              <a:buNone/>
            </a:pPr>
            <a:r>
              <a:rPr lang="en-US" sz="1500" dirty="0">
                <a:solidFill>
                  <a:srgbClr val="C9D3E3"/>
                </a:solidFill>
                <a:latin typeface="Calibri" pitchFamily="34" charset="0"/>
                <a:ea typeface="Calibri" pitchFamily="34" charset="-122"/>
                <a:cs typeface="Calibri" pitchFamily="34" charset="-120"/>
              </a:rPr>
              <a:t>To the children and families, the sentinel hospital teams, and the KEMRI/CGHR surveillance and laboratory staff.</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1466</Words>
  <Application>Microsoft Office PowerPoint</Application>
  <PresentationFormat>Widescreen</PresentationFormat>
  <Paragraphs>119</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at Risk: RSV in children with heart disease in Kenya</dc:title>
  <dc:subject>PptxGenJS Presentation</dc:subject>
  <dc:creator>Daniel Otieno Omollo</dc:creator>
  <cp:lastModifiedBy>Orege, Ian</cp:lastModifiedBy>
  <cp:revision>2</cp:revision>
  <dcterms:created xsi:type="dcterms:W3CDTF">2026-09-22T12:52:38Z</dcterms:created>
  <dcterms:modified xsi:type="dcterms:W3CDTF">2026-09-22T12:59:15Z</dcterms:modified>
</cp:coreProperties>
</file>